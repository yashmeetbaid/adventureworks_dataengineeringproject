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Roboto"/>
      <p:regular r:id="rId20"/>
      <p:bold r:id="rId21"/>
      <p:italic r:id="rId22"/>
      <p:boldItalic r:id="rId23"/>
    </p:embeddedFont>
    <p:embeddedFont>
      <p:font typeface="Cantarell"/>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E2A73F-DEBB-47DE-AA2F-44A61620BCD5}">
  <a:tblStyle styleId="{D4E2A73F-DEBB-47DE-AA2F-44A61620BCD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Cantarell-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antarell-italic.fntdata"/><Relationship Id="rId25" Type="http://schemas.openxmlformats.org/officeDocument/2006/relationships/font" Target="fonts/Cantarell-bold.fntdata"/><Relationship Id="rId28" Type="http://schemas.openxmlformats.org/officeDocument/2006/relationships/font" Target="fonts/RobotoMono-regular.fntdata"/><Relationship Id="rId27" Type="http://schemas.openxmlformats.org/officeDocument/2006/relationships/font" Target="fonts/Cantarell-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0758f6cfa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0758f6cfa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a0758f6cfa_1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0758f6cfa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a0758f6cfa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0758f6cfa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0758f6cfa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a0758f6cfa_1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0758f6cfa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0758f6cfa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a0758f6cfa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0758f6cfa_1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0758f6cfa_1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a0758f6cfa_1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33039"/>
        </a:solid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D0A863"/>
              </a:buClr>
              <a:buSzPts val="6000"/>
              <a:buFont typeface="Cantarell"/>
              <a:buNone/>
              <a:defRPr sz="6000">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D0A863"/>
              </a:buClr>
              <a:buSzPts val="2400"/>
              <a:buNone/>
              <a:defRPr sz="2400">
                <a:solidFill>
                  <a:srgbClr val="D0A863"/>
                </a:solidFill>
                <a:latin typeface="Cantarell"/>
                <a:ea typeface="Cantarell"/>
                <a:cs typeface="Cantarell"/>
                <a:sym typeface="Cantarell"/>
              </a:defRPr>
            </a:lvl1pPr>
            <a:lvl2pPr lvl="1" algn="ctr">
              <a:lnSpc>
                <a:spcPct val="90000"/>
              </a:lnSpc>
              <a:spcBef>
                <a:spcPts val="500"/>
              </a:spcBef>
              <a:spcAft>
                <a:spcPts val="0"/>
              </a:spcAft>
              <a:buClr>
                <a:srgbClr val="D0A863"/>
              </a:buClr>
              <a:buSzPts val="2000"/>
              <a:buNone/>
              <a:defRPr sz="2000"/>
            </a:lvl2pPr>
            <a:lvl3pPr lvl="2" algn="ctr">
              <a:lnSpc>
                <a:spcPct val="90000"/>
              </a:lnSpc>
              <a:spcBef>
                <a:spcPts val="500"/>
              </a:spcBef>
              <a:spcAft>
                <a:spcPts val="0"/>
              </a:spcAft>
              <a:buClr>
                <a:srgbClr val="D0A863"/>
              </a:buClr>
              <a:buSzPts val="1800"/>
              <a:buNone/>
              <a:defRPr sz="1800"/>
            </a:lvl3pPr>
            <a:lvl4pPr lvl="3" algn="ctr">
              <a:lnSpc>
                <a:spcPct val="90000"/>
              </a:lnSpc>
              <a:spcBef>
                <a:spcPts val="500"/>
              </a:spcBef>
              <a:spcAft>
                <a:spcPts val="0"/>
              </a:spcAft>
              <a:buClr>
                <a:srgbClr val="D0A863"/>
              </a:buClr>
              <a:buSzPts val="1600"/>
              <a:buNone/>
              <a:defRPr sz="1600"/>
            </a:lvl4pPr>
            <a:lvl5pPr lvl="4" algn="ctr">
              <a:lnSpc>
                <a:spcPct val="90000"/>
              </a:lnSpc>
              <a:spcBef>
                <a:spcPts val="500"/>
              </a:spcBef>
              <a:spcAft>
                <a:spcPts val="0"/>
              </a:spcAft>
              <a:buClr>
                <a:srgbClr val="D0A863"/>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
        <p:nvSpPr>
          <p:cNvPr id="22" name="Google Shape;22;p2"/>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233039"/>
        </a:solidFill>
      </p:bgPr>
    </p:bg>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885825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838200" y="1825625"/>
            <a:ext cx="10515600" cy="4351338"/>
          </a:xfrm>
          <a:prstGeom prst="rect">
            <a:avLst/>
          </a:prstGeom>
          <a:solidFill>
            <a:srgbClr val="233039"/>
          </a:solid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 name="Google Shape;26;p3"/>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
        <p:nvSpPr>
          <p:cNvPr id="27" name="Google Shape;27;p3"/>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3"/>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233039"/>
        </a:solidFill>
      </p:bgPr>
    </p:bg>
    <p:spTree>
      <p:nvGrpSpPr>
        <p:cNvPr id="31" name="Shape 31"/>
        <p:cNvGrpSpPr/>
        <p:nvPr/>
      </p:nvGrpSpPr>
      <p:grpSpPr>
        <a:xfrm>
          <a:off x="0" y="0"/>
          <a:ext cx="0" cy="0"/>
          <a:chOff x="0" y="0"/>
          <a:chExt cx="0" cy="0"/>
        </a:xfrm>
      </p:grpSpPr>
      <p:sp>
        <p:nvSpPr>
          <p:cNvPr id="32" name="Google Shape;32;p4"/>
          <p:cNvSpPr txBox="1"/>
          <p:nvPr>
            <p:ph type="title"/>
          </p:nvPr>
        </p:nvSpPr>
        <p:spPr>
          <a:xfrm>
            <a:off x="838200" y="365125"/>
            <a:ext cx="885825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4"/>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37" name="Google Shape;37;p4"/>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233039"/>
        </a:solidFill>
      </p:bgPr>
    </p:bg>
    <p:spTree>
      <p:nvGrpSpPr>
        <p:cNvPr id="38" name="Shape 38"/>
        <p:cNvGrpSpPr/>
        <p:nvPr/>
      </p:nvGrpSpPr>
      <p:grpSpPr>
        <a:xfrm>
          <a:off x="0" y="0"/>
          <a:ext cx="0" cy="0"/>
          <a:chOff x="0" y="0"/>
          <a:chExt cx="0" cy="0"/>
        </a:xfrm>
      </p:grpSpPr>
      <p:sp>
        <p:nvSpPr>
          <p:cNvPr id="39" name="Google Shape;39;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0A863"/>
              </a:buClr>
              <a:buSzPts val="6000"/>
              <a:buFont typeface="Cantarell"/>
              <a:buNone/>
              <a:defRPr sz="6000">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D0A863"/>
              </a:buClr>
              <a:buSzPts val="2400"/>
              <a:buNone/>
              <a:defRPr sz="2400">
                <a:solidFill>
                  <a:srgbClr val="D0A863"/>
                </a:solidFill>
                <a:latin typeface="Cantarell"/>
                <a:ea typeface="Cantarell"/>
                <a:cs typeface="Cantarell"/>
                <a:sym typeface="Cantare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41" name="Google Shape;41;p5"/>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
        <p:nvSpPr>
          <p:cNvPr id="42" name="Google Shape;42;p5"/>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5"/>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6" name="Shape 46"/>
        <p:cNvGrpSpPr/>
        <p:nvPr/>
      </p:nvGrpSpPr>
      <p:grpSpPr>
        <a:xfrm>
          <a:off x="0" y="0"/>
          <a:ext cx="0" cy="0"/>
          <a:chOff x="0" y="0"/>
          <a:chExt cx="0" cy="0"/>
        </a:xfrm>
      </p:grpSpPr>
      <p:sp>
        <p:nvSpPr>
          <p:cNvPr id="47" name="Google Shape;47;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0" type="dt"/>
          </p:nvPr>
        </p:nvSpPr>
        <p:spPr>
          <a:xfrm>
            <a:off x="609600" y="6356350"/>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1" type="ftr"/>
          </p:nvPr>
        </p:nvSpPr>
        <p:spPr>
          <a:xfrm>
            <a:off x="4165600" y="6356350"/>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2" type="sldNum"/>
          </p:nvPr>
        </p:nvSpPr>
        <p:spPr>
          <a:xfrm>
            <a:off x="8737600" y="6356350"/>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1" name="Google Shape;51;p6"/>
          <p:cNvPicPr preferRelativeResize="0"/>
          <p:nvPr/>
        </p:nvPicPr>
        <p:blipFill rotWithShape="1">
          <a:blip r:embed="rId2">
            <a:alphaModFix/>
          </a:blip>
          <a:srcRect b="0" l="0" r="0" t="0"/>
          <a:stretch/>
        </p:blipFill>
        <p:spPr>
          <a:xfrm>
            <a:off x="9297385" y="90169"/>
            <a:ext cx="2073324" cy="10345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solidFill>
          <a:srgbClr val="233039"/>
        </a:solidFill>
      </p:bgPr>
    </p:bg>
    <p:spTree>
      <p:nvGrpSpPr>
        <p:cNvPr id="52" name="Shape 52"/>
        <p:cNvGrpSpPr/>
        <p:nvPr/>
      </p:nvGrpSpPr>
      <p:grpSpPr>
        <a:xfrm>
          <a:off x="0" y="0"/>
          <a:ext cx="0" cy="0"/>
          <a:chOff x="0" y="0"/>
          <a:chExt cx="0" cy="0"/>
        </a:xfrm>
      </p:grpSpPr>
      <p:sp>
        <p:nvSpPr>
          <p:cNvPr id="53" name="Google Shape;53;p7"/>
          <p:cNvSpPr txBox="1"/>
          <p:nvPr>
            <p:ph type="title"/>
          </p:nvPr>
        </p:nvSpPr>
        <p:spPr>
          <a:xfrm>
            <a:off x="839788" y="365125"/>
            <a:ext cx="885666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D0A863"/>
              </a:buClr>
              <a:buSzPts val="2400"/>
              <a:buNone/>
              <a:defRPr b="1" sz="2400">
                <a:solidFill>
                  <a:srgbClr val="D0A863"/>
                </a:solidFill>
                <a:latin typeface="Cantarell"/>
                <a:ea typeface="Cantarell"/>
                <a:cs typeface="Cantarell"/>
                <a:sym typeface="Cantarell"/>
              </a:defRPr>
            </a:lvl1pPr>
            <a:lvl2pPr indent="-228600" lvl="1" marL="914400" algn="l">
              <a:lnSpc>
                <a:spcPct val="90000"/>
              </a:lnSpc>
              <a:spcBef>
                <a:spcPts val="500"/>
              </a:spcBef>
              <a:spcAft>
                <a:spcPts val="0"/>
              </a:spcAft>
              <a:buClr>
                <a:srgbClr val="D0A863"/>
              </a:buClr>
              <a:buSzPts val="2000"/>
              <a:buNone/>
              <a:defRPr b="1" sz="2000"/>
            </a:lvl2pPr>
            <a:lvl3pPr indent="-228600" lvl="2" marL="1371600" algn="l">
              <a:lnSpc>
                <a:spcPct val="90000"/>
              </a:lnSpc>
              <a:spcBef>
                <a:spcPts val="500"/>
              </a:spcBef>
              <a:spcAft>
                <a:spcPts val="0"/>
              </a:spcAft>
              <a:buClr>
                <a:srgbClr val="D0A863"/>
              </a:buClr>
              <a:buSzPts val="1800"/>
              <a:buNone/>
              <a:defRPr b="1" sz="1800"/>
            </a:lvl3pPr>
            <a:lvl4pPr indent="-228600" lvl="3" marL="1828800" algn="l">
              <a:lnSpc>
                <a:spcPct val="90000"/>
              </a:lnSpc>
              <a:spcBef>
                <a:spcPts val="500"/>
              </a:spcBef>
              <a:spcAft>
                <a:spcPts val="0"/>
              </a:spcAft>
              <a:buClr>
                <a:srgbClr val="D0A863"/>
              </a:buClr>
              <a:buSzPts val="1600"/>
              <a:buNone/>
              <a:defRPr b="1" sz="1600"/>
            </a:lvl4pPr>
            <a:lvl5pPr indent="-228600" lvl="4" marL="2286000" algn="l">
              <a:lnSpc>
                <a:spcPct val="90000"/>
              </a:lnSpc>
              <a:spcBef>
                <a:spcPts val="500"/>
              </a:spcBef>
              <a:spcAft>
                <a:spcPts val="0"/>
              </a:spcAft>
              <a:buClr>
                <a:srgbClr val="D0A863"/>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D0A863"/>
              </a:buClr>
              <a:buSzPts val="2400"/>
              <a:buNone/>
              <a:defRPr b="1" sz="2400">
                <a:solidFill>
                  <a:srgbClr val="D0A863"/>
                </a:solidFill>
                <a:latin typeface="Cantarell"/>
                <a:ea typeface="Cantarell"/>
                <a:cs typeface="Cantarell"/>
                <a:sym typeface="Cantarell"/>
              </a:defRPr>
            </a:lvl1pPr>
            <a:lvl2pPr indent="-228600" lvl="1" marL="914400" algn="l">
              <a:lnSpc>
                <a:spcPct val="90000"/>
              </a:lnSpc>
              <a:spcBef>
                <a:spcPts val="500"/>
              </a:spcBef>
              <a:spcAft>
                <a:spcPts val="0"/>
              </a:spcAft>
              <a:buClr>
                <a:srgbClr val="D0A863"/>
              </a:buClr>
              <a:buSzPts val="2000"/>
              <a:buNone/>
              <a:defRPr b="1" sz="2000"/>
            </a:lvl2pPr>
            <a:lvl3pPr indent="-228600" lvl="2" marL="1371600" algn="l">
              <a:lnSpc>
                <a:spcPct val="90000"/>
              </a:lnSpc>
              <a:spcBef>
                <a:spcPts val="500"/>
              </a:spcBef>
              <a:spcAft>
                <a:spcPts val="0"/>
              </a:spcAft>
              <a:buClr>
                <a:srgbClr val="D0A863"/>
              </a:buClr>
              <a:buSzPts val="1800"/>
              <a:buNone/>
              <a:defRPr b="1" sz="1800"/>
            </a:lvl3pPr>
            <a:lvl4pPr indent="-228600" lvl="3" marL="1828800" algn="l">
              <a:lnSpc>
                <a:spcPct val="90000"/>
              </a:lnSpc>
              <a:spcBef>
                <a:spcPts val="500"/>
              </a:spcBef>
              <a:spcAft>
                <a:spcPts val="0"/>
              </a:spcAft>
              <a:buClr>
                <a:srgbClr val="D0A863"/>
              </a:buClr>
              <a:buSzPts val="1600"/>
              <a:buNone/>
              <a:defRPr b="1" sz="1600"/>
            </a:lvl4pPr>
            <a:lvl5pPr indent="-228600" lvl="4" marL="2286000" algn="l">
              <a:lnSpc>
                <a:spcPct val="90000"/>
              </a:lnSpc>
              <a:spcBef>
                <a:spcPts val="500"/>
              </a:spcBef>
              <a:spcAft>
                <a:spcPts val="0"/>
              </a:spcAft>
              <a:buClr>
                <a:srgbClr val="D0A863"/>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defRPr>
            </a:lvl1pPr>
            <a:lvl2pPr indent="-381000" lvl="1" marL="914400" algn="l">
              <a:lnSpc>
                <a:spcPct val="90000"/>
              </a:lnSpc>
              <a:spcBef>
                <a:spcPts val="500"/>
              </a:spcBef>
              <a:spcAft>
                <a:spcPts val="0"/>
              </a:spcAft>
              <a:buClr>
                <a:srgbClr val="D0A863"/>
              </a:buClr>
              <a:buSzPts val="2400"/>
              <a:buChar char="•"/>
              <a:defRPr>
                <a:solidFill>
                  <a:srgbClr val="D0A863"/>
                </a:solidFill>
              </a:defRPr>
            </a:lvl2pPr>
            <a:lvl3pPr indent="-355600" lvl="2" marL="1371600" algn="l">
              <a:lnSpc>
                <a:spcPct val="90000"/>
              </a:lnSpc>
              <a:spcBef>
                <a:spcPts val="500"/>
              </a:spcBef>
              <a:spcAft>
                <a:spcPts val="0"/>
              </a:spcAft>
              <a:buClr>
                <a:srgbClr val="D0A863"/>
              </a:buClr>
              <a:buSzPts val="2000"/>
              <a:buChar char="•"/>
              <a:defRPr>
                <a:solidFill>
                  <a:srgbClr val="D0A863"/>
                </a:solidFill>
              </a:defRPr>
            </a:lvl3pPr>
            <a:lvl4pPr indent="-342900" lvl="3" marL="1828800" algn="l">
              <a:lnSpc>
                <a:spcPct val="90000"/>
              </a:lnSpc>
              <a:spcBef>
                <a:spcPts val="500"/>
              </a:spcBef>
              <a:spcAft>
                <a:spcPts val="0"/>
              </a:spcAft>
              <a:buClr>
                <a:srgbClr val="D0A863"/>
              </a:buClr>
              <a:buSzPts val="1800"/>
              <a:buChar char="•"/>
              <a:defRPr>
                <a:solidFill>
                  <a:srgbClr val="D0A863"/>
                </a:solidFill>
              </a:defRPr>
            </a:lvl4pPr>
            <a:lvl5pPr indent="-342900" lvl="4" marL="2286000" algn="l">
              <a:lnSpc>
                <a:spcPct val="90000"/>
              </a:lnSpc>
              <a:spcBef>
                <a:spcPts val="500"/>
              </a:spcBef>
              <a:spcAft>
                <a:spcPts val="0"/>
              </a:spcAft>
              <a:buClr>
                <a:srgbClr val="D0A863"/>
              </a:buClr>
              <a:buSzPts val="1800"/>
              <a:buChar char="•"/>
              <a:defRPr>
                <a:solidFill>
                  <a:srgbClr val="D0A863"/>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7"/>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7"/>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62" name="Google Shape;62;p7"/>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233039"/>
        </a:solidFill>
      </p:bgPr>
    </p:bg>
    <p:spTree>
      <p:nvGrpSpPr>
        <p:cNvPr id="63" name="Shape 63"/>
        <p:cNvGrpSpPr/>
        <p:nvPr/>
      </p:nvGrpSpPr>
      <p:grpSpPr>
        <a:xfrm>
          <a:off x="0" y="0"/>
          <a:ext cx="0" cy="0"/>
          <a:chOff x="0" y="0"/>
          <a:chExt cx="0" cy="0"/>
        </a:xfrm>
      </p:grpSpPr>
      <p:sp>
        <p:nvSpPr>
          <p:cNvPr id="64" name="Google Shape;64;p8"/>
          <p:cNvSpPr txBox="1"/>
          <p:nvPr>
            <p:ph type="title"/>
          </p:nvPr>
        </p:nvSpPr>
        <p:spPr>
          <a:xfrm>
            <a:off x="838199" y="365125"/>
            <a:ext cx="8848726"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8"/>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8"/>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71" name="Google Shape;71;p8"/>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233039"/>
        </a:solidFill>
      </p:bgPr>
    </p:bg>
    <p:spTree>
      <p:nvGrpSpPr>
        <p:cNvPr id="72" name="Shape 72"/>
        <p:cNvGrpSpPr/>
        <p:nvPr/>
      </p:nvGrpSpPr>
      <p:grpSpPr>
        <a:xfrm>
          <a:off x="0" y="0"/>
          <a:ext cx="0" cy="0"/>
          <a:chOff x="0" y="0"/>
          <a:chExt cx="0" cy="0"/>
        </a:xfrm>
      </p:grpSpPr>
      <p:sp>
        <p:nvSpPr>
          <p:cNvPr id="73" name="Google Shape;73;p9"/>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6" name="Google Shape;76;p9"/>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77" name="Google Shape;77;p9"/>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solidFill>
          <a:srgbClr val="233039"/>
        </a:solidFill>
      </p:bgPr>
    </p:bg>
    <p:spTree>
      <p:nvGrpSpPr>
        <p:cNvPr id="78" name="Shape 78"/>
        <p:cNvGrpSpPr/>
        <p:nvPr/>
      </p:nvGrpSpPr>
      <p:grpSpPr>
        <a:xfrm>
          <a:off x="0" y="0"/>
          <a:ext cx="0" cy="0"/>
          <a:chOff x="0" y="0"/>
          <a:chExt cx="0" cy="0"/>
        </a:xfrm>
      </p:grpSpPr>
      <p:sp>
        <p:nvSpPr>
          <p:cNvPr id="79" name="Google Shape;79;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0A863"/>
              </a:buClr>
              <a:buSzPts val="3200"/>
              <a:buFont typeface="Cantarell"/>
              <a:buNone/>
              <a:defRPr sz="3200">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 type="body"/>
          </p:nvPr>
        </p:nvSpPr>
        <p:spPr>
          <a:xfrm>
            <a:off x="5183188" y="1116000"/>
            <a:ext cx="6172200" cy="47450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D0A863"/>
              </a:buClr>
              <a:buSzPts val="3200"/>
              <a:buChar char="•"/>
              <a:defRPr sz="3200">
                <a:solidFill>
                  <a:srgbClr val="D0A863"/>
                </a:solidFill>
                <a:latin typeface="Cantarell"/>
                <a:ea typeface="Cantarell"/>
                <a:cs typeface="Cantarell"/>
                <a:sym typeface="Cantarell"/>
              </a:defRPr>
            </a:lvl1pPr>
            <a:lvl2pPr indent="-406400" lvl="1" marL="914400" algn="l">
              <a:lnSpc>
                <a:spcPct val="90000"/>
              </a:lnSpc>
              <a:spcBef>
                <a:spcPts val="500"/>
              </a:spcBef>
              <a:spcAft>
                <a:spcPts val="0"/>
              </a:spcAft>
              <a:buClr>
                <a:srgbClr val="D0A863"/>
              </a:buClr>
              <a:buSzPts val="2800"/>
              <a:buChar char="•"/>
              <a:defRPr sz="2800">
                <a:solidFill>
                  <a:srgbClr val="D0A863"/>
                </a:solidFill>
                <a:latin typeface="Cantarell"/>
                <a:ea typeface="Cantarell"/>
                <a:cs typeface="Cantarell"/>
                <a:sym typeface="Cantarell"/>
              </a:defRPr>
            </a:lvl2pPr>
            <a:lvl3pPr indent="-381000" lvl="2" marL="1371600" algn="l">
              <a:lnSpc>
                <a:spcPct val="90000"/>
              </a:lnSpc>
              <a:spcBef>
                <a:spcPts val="500"/>
              </a:spcBef>
              <a:spcAft>
                <a:spcPts val="0"/>
              </a:spcAft>
              <a:buClr>
                <a:srgbClr val="D0A863"/>
              </a:buClr>
              <a:buSzPts val="2400"/>
              <a:buChar char="•"/>
              <a:defRPr sz="2400">
                <a:solidFill>
                  <a:srgbClr val="D0A863"/>
                </a:solidFill>
                <a:latin typeface="Cantarell"/>
                <a:ea typeface="Cantarell"/>
                <a:cs typeface="Cantarell"/>
                <a:sym typeface="Cantarell"/>
              </a:defRPr>
            </a:lvl3pPr>
            <a:lvl4pPr indent="-355600" lvl="3" marL="1828800" algn="l">
              <a:lnSpc>
                <a:spcPct val="90000"/>
              </a:lnSpc>
              <a:spcBef>
                <a:spcPts val="500"/>
              </a:spcBef>
              <a:spcAft>
                <a:spcPts val="0"/>
              </a:spcAft>
              <a:buClr>
                <a:srgbClr val="D0A863"/>
              </a:buClr>
              <a:buSzPts val="2000"/>
              <a:buChar char="•"/>
              <a:defRPr sz="2000">
                <a:solidFill>
                  <a:srgbClr val="D0A863"/>
                </a:solidFill>
                <a:latin typeface="Cantarell"/>
                <a:ea typeface="Cantarell"/>
                <a:cs typeface="Cantarell"/>
                <a:sym typeface="Cantarell"/>
              </a:defRPr>
            </a:lvl4pPr>
            <a:lvl5pPr indent="-355600" lvl="4" marL="2286000" algn="l">
              <a:lnSpc>
                <a:spcPct val="90000"/>
              </a:lnSpc>
              <a:spcBef>
                <a:spcPts val="500"/>
              </a:spcBef>
              <a:spcAft>
                <a:spcPts val="0"/>
              </a:spcAft>
              <a:buClr>
                <a:srgbClr val="D0A863"/>
              </a:buClr>
              <a:buSzPts val="2000"/>
              <a:buChar char="•"/>
              <a:defRPr sz="2000">
                <a:solidFill>
                  <a:srgbClr val="D0A863"/>
                </a:solidFill>
                <a:latin typeface="Cantarell"/>
                <a:ea typeface="Cantarell"/>
                <a:cs typeface="Cantarell"/>
                <a:sym typeface="Cantarel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 name="Google Shape;81;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D0A863"/>
              </a:buClr>
              <a:buSzPts val="1600"/>
              <a:buNone/>
              <a:defRPr sz="1600"/>
            </a:lvl1pPr>
            <a:lvl2pPr indent="-228600" lvl="1" marL="914400" algn="l">
              <a:lnSpc>
                <a:spcPct val="90000"/>
              </a:lnSpc>
              <a:spcBef>
                <a:spcPts val="500"/>
              </a:spcBef>
              <a:spcAft>
                <a:spcPts val="0"/>
              </a:spcAft>
              <a:buClr>
                <a:srgbClr val="D0A863"/>
              </a:buClr>
              <a:buSzPts val="1400"/>
              <a:buNone/>
              <a:defRPr sz="1400"/>
            </a:lvl2pPr>
            <a:lvl3pPr indent="-228600" lvl="2" marL="1371600" algn="l">
              <a:lnSpc>
                <a:spcPct val="90000"/>
              </a:lnSpc>
              <a:spcBef>
                <a:spcPts val="500"/>
              </a:spcBef>
              <a:spcAft>
                <a:spcPts val="0"/>
              </a:spcAft>
              <a:buClr>
                <a:srgbClr val="D0A863"/>
              </a:buClr>
              <a:buSzPts val="1200"/>
              <a:buNone/>
              <a:defRPr sz="1200"/>
            </a:lvl3pPr>
            <a:lvl4pPr indent="-228600" lvl="3" marL="1828800" algn="l">
              <a:lnSpc>
                <a:spcPct val="90000"/>
              </a:lnSpc>
              <a:spcBef>
                <a:spcPts val="500"/>
              </a:spcBef>
              <a:spcAft>
                <a:spcPts val="0"/>
              </a:spcAft>
              <a:buClr>
                <a:srgbClr val="D0A863"/>
              </a:buClr>
              <a:buSzPts val="1000"/>
              <a:buNone/>
              <a:defRPr sz="1000"/>
            </a:lvl4pPr>
            <a:lvl5pPr indent="-228600" lvl="4" marL="2286000" algn="l">
              <a:lnSpc>
                <a:spcPct val="90000"/>
              </a:lnSpc>
              <a:spcBef>
                <a:spcPts val="500"/>
              </a:spcBef>
              <a:spcAft>
                <a:spcPts val="0"/>
              </a:spcAft>
              <a:buClr>
                <a:srgbClr val="D0A863"/>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0"/>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10"/>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86" name="Google Shape;86;p10"/>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rgbClr val="233039"/>
        </a:solidFill>
      </p:bgPr>
    </p:bg>
    <p:spTree>
      <p:nvGrpSpPr>
        <p:cNvPr id="87" name="Shape 87"/>
        <p:cNvGrpSpPr/>
        <p:nvPr/>
      </p:nvGrpSpPr>
      <p:grpSpPr>
        <a:xfrm>
          <a:off x="0" y="0"/>
          <a:ext cx="0" cy="0"/>
          <a:chOff x="0" y="0"/>
          <a:chExt cx="0" cy="0"/>
        </a:xfrm>
      </p:grpSpPr>
      <p:sp>
        <p:nvSpPr>
          <p:cNvPr id="88" name="Google Shape;88;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0A863"/>
              </a:buClr>
              <a:buSzPts val="3200"/>
              <a:buFont typeface="Cantarell"/>
              <a:buNone/>
              <a:defRPr sz="3200">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1"/>
          <p:cNvSpPr/>
          <p:nvPr>
            <p:ph idx="2" type="pic"/>
          </p:nvPr>
        </p:nvSpPr>
        <p:spPr>
          <a:xfrm>
            <a:off x="5183188" y="1116000"/>
            <a:ext cx="6172200" cy="4745050"/>
          </a:xfrm>
          <a:prstGeom prst="rect">
            <a:avLst/>
          </a:prstGeom>
          <a:noFill/>
          <a:ln>
            <a:noFill/>
          </a:ln>
        </p:spPr>
      </p:sp>
      <p:sp>
        <p:nvSpPr>
          <p:cNvPr id="90" name="Google Shape;90;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D0A863"/>
              </a:buClr>
              <a:buSzPts val="1600"/>
              <a:buNone/>
              <a:defRPr sz="1600">
                <a:solidFill>
                  <a:srgbClr val="D0A863"/>
                </a:solidFill>
                <a:latin typeface="Cantarell"/>
                <a:ea typeface="Cantarell"/>
                <a:cs typeface="Cantarell"/>
                <a:sym typeface="Cantarell"/>
              </a:defRPr>
            </a:lvl1pPr>
            <a:lvl2pPr indent="-228600" lvl="1" marL="914400" algn="l">
              <a:lnSpc>
                <a:spcPct val="90000"/>
              </a:lnSpc>
              <a:spcBef>
                <a:spcPts val="500"/>
              </a:spcBef>
              <a:spcAft>
                <a:spcPts val="0"/>
              </a:spcAft>
              <a:buClr>
                <a:srgbClr val="D0A863"/>
              </a:buClr>
              <a:buSzPts val="1400"/>
              <a:buNone/>
              <a:defRPr sz="1400"/>
            </a:lvl2pPr>
            <a:lvl3pPr indent="-228600" lvl="2" marL="1371600" algn="l">
              <a:lnSpc>
                <a:spcPct val="90000"/>
              </a:lnSpc>
              <a:spcBef>
                <a:spcPts val="500"/>
              </a:spcBef>
              <a:spcAft>
                <a:spcPts val="0"/>
              </a:spcAft>
              <a:buClr>
                <a:srgbClr val="D0A863"/>
              </a:buClr>
              <a:buSzPts val="1200"/>
              <a:buNone/>
              <a:defRPr sz="1200"/>
            </a:lvl3pPr>
            <a:lvl4pPr indent="-228600" lvl="3" marL="1828800" algn="l">
              <a:lnSpc>
                <a:spcPct val="90000"/>
              </a:lnSpc>
              <a:spcBef>
                <a:spcPts val="500"/>
              </a:spcBef>
              <a:spcAft>
                <a:spcPts val="0"/>
              </a:spcAft>
              <a:buClr>
                <a:srgbClr val="D0A863"/>
              </a:buClr>
              <a:buSzPts val="1000"/>
              <a:buNone/>
              <a:defRPr sz="1000"/>
            </a:lvl4pPr>
            <a:lvl5pPr indent="-228600" lvl="4" marL="2286000" algn="l">
              <a:lnSpc>
                <a:spcPct val="90000"/>
              </a:lnSpc>
              <a:spcBef>
                <a:spcPts val="500"/>
              </a:spcBef>
              <a:spcAft>
                <a:spcPts val="0"/>
              </a:spcAft>
              <a:buClr>
                <a:srgbClr val="D0A863"/>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11"/>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1"/>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11"/>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95" name="Google Shape;95;p11"/>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solidFill>
          <a:srgbClr val="233039"/>
        </a:solidFill>
      </p:bgPr>
    </p:bg>
    <p:spTree>
      <p:nvGrpSpPr>
        <p:cNvPr id="96" name="Shape 96"/>
        <p:cNvGrpSpPr/>
        <p:nvPr/>
      </p:nvGrpSpPr>
      <p:grpSpPr>
        <a:xfrm>
          <a:off x="0" y="0"/>
          <a:ext cx="0" cy="0"/>
          <a:chOff x="0" y="0"/>
          <a:chExt cx="0" cy="0"/>
        </a:xfrm>
      </p:grpSpPr>
      <p:sp>
        <p:nvSpPr>
          <p:cNvPr id="97" name="Google Shape;97;p12"/>
          <p:cNvSpPr txBox="1"/>
          <p:nvPr>
            <p:ph type="title"/>
          </p:nvPr>
        </p:nvSpPr>
        <p:spPr>
          <a:xfrm>
            <a:off x="838200" y="365125"/>
            <a:ext cx="886777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12"/>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2"/>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103" name="Google Shape;103;p12"/>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solidFill>
          <a:srgbClr val="233039"/>
        </a:solidFill>
      </p:bgPr>
    </p:bg>
    <p:spTree>
      <p:nvGrpSpPr>
        <p:cNvPr id="104" name="Shape 104"/>
        <p:cNvGrpSpPr/>
        <p:nvPr/>
      </p:nvGrpSpPr>
      <p:grpSpPr>
        <a:xfrm>
          <a:off x="0" y="0"/>
          <a:ext cx="0" cy="0"/>
          <a:chOff x="0" y="0"/>
          <a:chExt cx="0" cy="0"/>
        </a:xfrm>
      </p:grpSpPr>
      <p:sp>
        <p:nvSpPr>
          <p:cNvPr id="105" name="Google Shape;105;p13"/>
          <p:cNvSpPr txBox="1"/>
          <p:nvPr>
            <p:ph type="title"/>
          </p:nvPr>
        </p:nvSpPr>
        <p:spPr>
          <a:xfrm rot="5400000">
            <a:off x="7596486" y="2419648"/>
            <a:ext cx="4885729"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0A863"/>
              </a:buClr>
              <a:buSzPts val="4400"/>
              <a:buFont typeface="Cantarell"/>
              <a:buNone/>
              <a:defRPr>
                <a:solidFill>
                  <a:srgbClr val="D0A863"/>
                </a:solidFill>
                <a:latin typeface="Cantarell"/>
                <a:ea typeface="Cantarell"/>
                <a:cs typeface="Cantarell"/>
                <a:sym typeface="Cantare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D0A863"/>
              </a:buClr>
              <a:buSzPts val="2800"/>
              <a:buChar char="•"/>
              <a:defRPr>
                <a:solidFill>
                  <a:srgbClr val="D0A863"/>
                </a:solidFill>
                <a:latin typeface="Cantarell"/>
                <a:ea typeface="Cantarell"/>
                <a:cs typeface="Cantarell"/>
                <a:sym typeface="Cantarell"/>
              </a:defRPr>
            </a:lvl1pPr>
            <a:lvl2pPr indent="-381000" lvl="1" marL="914400" algn="l">
              <a:lnSpc>
                <a:spcPct val="90000"/>
              </a:lnSpc>
              <a:spcBef>
                <a:spcPts val="500"/>
              </a:spcBef>
              <a:spcAft>
                <a:spcPts val="0"/>
              </a:spcAft>
              <a:buClr>
                <a:srgbClr val="D0A863"/>
              </a:buClr>
              <a:buSzPts val="2400"/>
              <a:buChar char="•"/>
              <a:defRPr>
                <a:solidFill>
                  <a:srgbClr val="D0A863"/>
                </a:solidFill>
                <a:latin typeface="Cantarell"/>
                <a:ea typeface="Cantarell"/>
                <a:cs typeface="Cantarell"/>
                <a:sym typeface="Cantarell"/>
              </a:defRPr>
            </a:lvl2pPr>
            <a:lvl3pPr indent="-355600" lvl="2" marL="1371600" algn="l">
              <a:lnSpc>
                <a:spcPct val="90000"/>
              </a:lnSpc>
              <a:spcBef>
                <a:spcPts val="500"/>
              </a:spcBef>
              <a:spcAft>
                <a:spcPts val="0"/>
              </a:spcAft>
              <a:buClr>
                <a:srgbClr val="D0A863"/>
              </a:buClr>
              <a:buSzPts val="2000"/>
              <a:buChar char="•"/>
              <a:defRPr>
                <a:solidFill>
                  <a:srgbClr val="D0A863"/>
                </a:solidFill>
                <a:latin typeface="Cantarell"/>
                <a:ea typeface="Cantarell"/>
                <a:cs typeface="Cantarell"/>
                <a:sym typeface="Cantarell"/>
              </a:defRPr>
            </a:lvl3pPr>
            <a:lvl4pPr indent="-342900" lvl="3" marL="18288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4pPr>
            <a:lvl5pPr indent="-342900" lvl="4" marL="2286000" algn="l">
              <a:lnSpc>
                <a:spcPct val="90000"/>
              </a:lnSpc>
              <a:spcBef>
                <a:spcPts val="500"/>
              </a:spcBef>
              <a:spcAft>
                <a:spcPts val="0"/>
              </a:spcAft>
              <a:buClr>
                <a:srgbClr val="D0A863"/>
              </a:buClr>
              <a:buSzPts val="1800"/>
              <a:buChar char="•"/>
              <a:defRPr>
                <a:solidFill>
                  <a:srgbClr val="D0A863"/>
                </a:solidFill>
                <a:latin typeface="Cantarell"/>
                <a:ea typeface="Cantarell"/>
                <a:cs typeface="Cantarell"/>
                <a:sym typeface="Cantare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3"/>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3"/>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3"/>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0" name="Google Shape;110;p13"/>
          <p:cNvSpPr/>
          <p:nvPr/>
        </p:nvSpPr>
        <p:spPr>
          <a:xfrm>
            <a:off x="0" y="6352197"/>
            <a:ext cx="12192002" cy="130971"/>
          </a:xfrm>
          <a:prstGeom prst="rect">
            <a:avLst/>
          </a:prstGeom>
          <a:solidFill>
            <a:srgbClr val="D0A8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63"/>
              <a:buFont typeface="Arial"/>
              <a:buNone/>
            </a:pPr>
            <a:r>
              <a:t/>
            </a:r>
            <a:endParaRPr b="0" i="0" sz="1463" u="none" cap="none" strike="noStrike">
              <a:solidFill>
                <a:schemeClr val="lt1"/>
              </a:solidFill>
              <a:latin typeface="Calibri"/>
              <a:ea typeface="Calibri"/>
              <a:cs typeface="Calibri"/>
              <a:sym typeface="Calibri"/>
            </a:endParaRPr>
          </a:p>
        </p:txBody>
      </p:sp>
      <p:pic>
        <p:nvPicPr>
          <p:cNvPr id="111" name="Google Shape;111;p13"/>
          <p:cNvPicPr preferRelativeResize="0"/>
          <p:nvPr/>
        </p:nvPicPr>
        <p:blipFill rotWithShape="1">
          <a:blip r:embed="rId2">
            <a:alphaModFix/>
          </a:blip>
          <a:srcRect b="0" l="0" r="0" t="0"/>
          <a:stretch/>
        </p:blipFill>
        <p:spPr>
          <a:xfrm>
            <a:off x="9813907" y="0"/>
            <a:ext cx="2378094" cy="1116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D0A863"/>
              </a:buClr>
              <a:buSzPts val="4400"/>
              <a:buFont typeface="Calibri"/>
              <a:buNone/>
              <a:defRPr b="1" i="0" sz="4400" u="none" cap="none" strike="noStrike">
                <a:solidFill>
                  <a:srgbClr val="D0A863"/>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D0A863"/>
              </a:buClr>
              <a:buSzPts val="2800"/>
              <a:buFont typeface="Arial"/>
              <a:buChar char="•"/>
              <a:defRPr b="0" i="0" sz="2800" u="none" cap="none" strike="noStrike">
                <a:solidFill>
                  <a:srgbClr val="D0A863"/>
                </a:solidFill>
                <a:latin typeface="Calibri"/>
                <a:ea typeface="Calibri"/>
                <a:cs typeface="Calibri"/>
                <a:sym typeface="Calibri"/>
              </a:defRPr>
            </a:lvl1pPr>
            <a:lvl2pPr indent="-381000" lvl="1" marL="914400" marR="0" rtl="0" algn="l">
              <a:lnSpc>
                <a:spcPct val="90000"/>
              </a:lnSpc>
              <a:spcBef>
                <a:spcPts val="500"/>
              </a:spcBef>
              <a:spcAft>
                <a:spcPts val="0"/>
              </a:spcAft>
              <a:buClr>
                <a:srgbClr val="D0A863"/>
              </a:buClr>
              <a:buSzPts val="2400"/>
              <a:buFont typeface="Arial"/>
              <a:buChar char="•"/>
              <a:defRPr b="0" i="0" sz="2400" u="none" cap="none" strike="noStrike">
                <a:solidFill>
                  <a:srgbClr val="D0A863"/>
                </a:solidFill>
                <a:latin typeface="Calibri"/>
                <a:ea typeface="Calibri"/>
                <a:cs typeface="Calibri"/>
                <a:sym typeface="Calibri"/>
              </a:defRPr>
            </a:lvl2pPr>
            <a:lvl3pPr indent="-355600" lvl="2" marL="1371600" marR="0" rtl="0" algn="l">
              <a:lnSpc>
                <a:spcPct val="90000"/>
              </a:lnSpc>
              <a:spcBef>
                <a:spcPts val="500"/>
              </a:spcBef>
              <a:spcAft>
                <a:spcPts val="0"/>
              </a:spcAft>
              <a:buClr>
                <a:srgbClr val="D0A863"/>
              </a:buClr>
              <a:buSzPts val="2000"/>
              <a:buFont typeface="Arial"/>
              <a:buChar char="•"/>
              <a:defRPr b="0" i="0" sz="2000" u="none" cap="none" strike="noStrike">
                <a:solidFill>
                  <a:srgbClr val="D0A863"/>
                </a:solidFill>
                <a:latin typeface="Calibri"/>
                <a:ea typeface="Calibri"/>
                <a:cs typeface="Calibri"/>
                <a:sym typeface="Calibri"/>
              </a:defRPr>
            </a:lvl3pPr>
            <a:lvl4pPr indent="-342900" lvl="3" marL="1828800" marR="0" rtl="0" algn="l">
              <a:lnSpc>
                <a:spcPct val="90000"/>
              </a:lnSpc>
              <a:spcBef>
                <a:spcPts val="500"/>
              </a:spcBef>
              <a:spcAft>
                <a:spcPts val="0"/>
              </a:spcAft>
              <a:buClr>
                <a:srgbClr val="D0A863"/>
              </a:buClr>
              <a:buSzPts val="1800"/>
              <a:buFont typeface="Arial"/>
              <a:buChar char="•"/>
              <a:defRPr b="0" i="0" sz="1800" u="none" cap="none" strike="noStrike">
                <a:solidFill>
                  <a:srgbClr val="D0A863"/>
                </a:solidFill>
                <a:latin typeface="Calibri"/>
                <a:ea typeface="Calibri"/>
                <a:cs typeface="Calibri"/>
                <a:sym typeface="Calibri"/>
              </a:defRPr>
            </a:lvl4pPr>
            <a:lvl5pPr indent="-342900" lvl="4" marL="2286000" marR="0" rtl="0" algn="l">
              <a:lnSpc>
                <a:spcPct val="90000"/>
              </a:lnSpc>
              <a:spcBef>
                <a:spcPts val="500"/>
              </a:spcBef>
              <a:spcAft>
                <a:spcPts val="0"/>
              </a:spcAft>
              <a:buClr>
                <a:srgbClr val="D0A863"/>
              </a:buClr>
              <a:buSzPts val="1800"/>
              <a:buFont typeface="Arial"/>
              <a:buChar char="•"/>
              <a:defRPr b="0" i="0" sz="1800" u="none" cap="none" strike="noStrike">
                <a:solidFill>
                  <a:srgbClr val="D0A863"/>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researchgate.net/publication/390897435_Leveraging_Azure_Data_Factory_Pipelines_For_Efficient_Data_Refreshes_In_BI_Applications?utm_source=chatgpt.com" TargetMode="External"/><Relationship Id="rId4" Type="http://schemas.openxmlformats.org/officeDocument/2006/relationships/hyperlink" Target="https://www.researchgate.net/publication/390897435_Leveraging_Azure_Data_Factory_Pipelines_For_Efficient_Data_Refreshes_In_BI_Applications?utm_source=chatgpt.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epub.vgu.edu.vn/handle/dlibvgu/1861" TargetMode="External"/><Relationship Id="rId4" Type="http://schemas.openxmlformats.org/officeDocument/2006/relationships/hyperlink" Target="https://epub.vgu.edu.vn/handle/dlibvgu/186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aisel.aisnet.org/cgi/viewcontent.cgi?article=1093&amp;context=jise" TargetMode="External"/><Relationship Id="rId4" Type="http://schemas.openxmlformats.org/officeDocument/2006/relationships/hyperlink" Target="https://aisel.aisnet.org/jise/vol26/iss3/1" TargetMode="External"/><Relationship Id="rId5" Type="http://schemas.openxmlformats.org/officeDocument/2006/relationships/hyperlink" Target="https://aisel.aisnet.org/jise/vol26/iss3/1" TargetMode="External"/><Relationship Id="rId6" Type="http://schemas.openxmlformats.org/officeDocument/2006/relationships/hyperlink" Target="https://aisel.aisnet.org/jise/vol26/iss3/1/?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ph type="ctrTitle"/>
          </p:nvPr>
        </p:nvSpPr>
        <p:spPr>
          <a:xfrm>
            <a:off x="387877" y="2157572"/>
            <a:ext cx="11127922" cy="945223"/>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SzPct val="185185"/>
              <a:buNone/>
            </a:pPr>
            <a:r>
              <a:rPr lang="en-US" sz="3600">
                <a:solidFill>
                  <a:srgbClr val="D7AC54"/>
                </a:solidFill>
              </a:rPr>
              <a:t>End-to-End Data Pipeline: AdventureWorks Sales and Operations Analytics</a:t>
            </a:r>
            <a:endParaRPr b="1" sz="3600">
              <a:solidFill>
                <a:srgbClr val="D7AC54"/>
              </a:solidFill>
              <a:latin typeface="Cantarell"/>
              <a:ea typeface="Cantarell"/>
              <a:cs typeface="Cantarell"/>
              <a:sym typeface="Cantarell"/>
            </a:endParaRPr>
          </a:p>
        </p:txBody>
      </p:sp>
      <p:sp>
        <p:nvSpPr>
          <p:cNvPr id="117" name="Google Shape;117;p14"/>
          <p:cNvSpPr txBox="1"/>
          <p:nvPr>
            <p:ph idx="1" type="subTitle"/>
          </p:nvPr>
        </p:nvSpPr>
        <p:spPr>
          <a:xfrm>
            <a:off x="1524000" y="4091276"/>
            <a:ext cx="9991800" cy="1882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2400"/>
              <a:buNone/>
            </a:pPr>
            <a:r>
              <a:rPr b="1" lang="en-US" sz="2000">
                <a:solidFill>
                  <a:srgbClr val="D7AC54"/>
                </a:solidFill>
              </a:rPr>
              <a:t>Yashmeet Baid - 1RVU23CSE547</a:t>
            </a:r>
            <a:endParaRPr b="1" sz="2000">
              <a:solidFill>
                <a:srgbClr val="D7AC54"/>
              </a:solidFill>
            </a:endParaRPr>
          </a:p>
          <a:p>
            <a:pPr indent="0" lvl="0" marL="0" rtl="0" algn="l">
              <a:lnSpc>
                <a:spcPct val="90000"/>
              </a:lnSpc>
              <a:spcBef>
                <a:spcPts val="0"/>
              </a:spcBef>
              <a:spcAft>
                <a:spcPts val="0"/>
              </a:spcAft>
              <a:buSzPts val="2400"/>
              <a:buNone/>
            </a:pPr>
            <a:r>
              <a:rPr b="1" lang="en-US" sz="2000">
                <a:solidFill>
                  <a:srgbClr val="D7AC54"/>
                </a:solidFill>
              </a:rPr>
              <a:t>Akshata Athreya - 1RVU23CSE035</a:t>
            </a:r>
            <a:endParaRPr b="1" sz="2000">
              <a:solidFill>
                <a:srgbClr val="D7AC54"/>
              </a:solidFill>
            </a:endParaRPr>
          </a:p>
          <a:p>
            <a:pPr indent="0" lvl="0" marL="0" rtl="0" algn="l">
              <a:lnSpc>
                <a:spcPct val="90000"/>
              </a:lnSpc>
              <a:spcBef>
                <a:spcPts val="0"/>
              </a:spcBef>
              <a:spcAft>
                <a:spcPts val="0"/>
              </a:spcAft>
              <a:buSzPts val="2400"/>
              <a:buNone/>
            </a:pPr>
            <a:r>
              <a:rPr b="1" lang="en-US" sz="2000">
                <a:solidFill>
                  <a:srgbClr val="D7AC54"/>
                </a:solidFill>
              </a:rPr>
              <a:t>Tanisha </a:t>
            </a:r>
            <a:r>
              <a:rPr b="1" lang="en-US" sz="2000">
                <a:solidFill>
                  <a:srgbClr val="D7AC54"/>
                </a:solidFill>
              </a:rPr>
              <a:t>Savitha</a:t>
            </a:r>
            <a:r>
              <a:rPr b="1" lang="en-US" sz="2000">
                <a:solidFill>
                  <a:srgbClr val="D7AC54"/>
                </a:solidFill>
              </a:rPr>
              <a:t> Naik - 1RVU23CSE500</a:t>
            </a:r>
            <a:endParaRPr b="1" sz="2000">
              <a:solidFill>
                <a:srgbClr val="D7AC54"/>
              </a:solidFill>
            </a:endParaRPr>
          </a:p>
          <a:p>
            <a:pPr indent="0" lvl="0" marL="0" rtl="0" algn="l">
              <a:lnSpc>
                <a:spcPct val="90000"/>
              </a:lnSpc>
              <a:spcBef>
                <a:spcPts val="0"/>
              </a:spcBef>
              <a:spcAft>
                <a:spcPts val="0"/>
              </a:spcAft>
              <a:buSzPts val="2400"/>
              <a:buNone/>
            </a:pPr>
            <a:r>
              <a:rPr b="1" lang="en-US" sz="2000">
                <a:solidFill>
                  <a:srgbClr val="D7AC54"/>
                </a:solidFill>
              </a:rPr>
              <a:t>Kunal K - 1RVU23CSE229</a:t>
            </a:r>
            <a:endParaRPr b="1" sz="2000">
              <a:solidFill>
                <a:srgbClr val="D7AC54"/>
              </a:solidFill>
            </a:endParaRPr>
          </a:p>
          <a:p>
            <a:pPr indent="0" lvl="0" marL="0" rtl="0" algn="l">
              <a:lnSpc>
                <a:spcPct val="90000"/>
              </a:lnSpc>
              <a:spcBef>
                <a:spcPts val="0"/>
              </a:spcBef>
              <a:spcAft>
                <a:spcPts val="0"/>
              </a:spcAft>
              <a:buSzPts val="2400"/>
              <a:buNone/>
            </a:pPr>
            <a:r>
              <a:t/>
            </a:r>
            <a:endParaRPr/>
          </a:p>
          <a:p>
            <a:pPr indent="0" lvl="0" marL="0" rtl="0" algn="l">
              <a:lnSpc>
                <a:spcPct val="90000"/>
              </a:lnSpc>
              <a:spcBef>
                <a:spcPts val="0"/>
              </a:spcBef>
              <a:spcAft>
                <a:spcPts val="0"/>
              </a:spcAft>
              <a:buSzPts val="2400"/>
              <a:buNone/>
            </a:pPr>
            <a:r>
              <a:rPr b="1" lang="en-US" sz="2000">
                <a:solidFill>
                  <a:srgbClr val="D7AC54"/>
                </a:solidFill>
              </a:rPr>
              <a:t>RV University, Bangalore India.</a:t>
            </a:r>
            <a:endParaRPr/>
          </a:p>
          <a:p>
            <a:pPr indent="0" lvl="0" marL="0" rtl="0" algn="r">
              <a:lnSpc>
                <a:spcPct val="90000"/>
              </a:lnSpc>
              <a:spcBef>
                <a:spcPts val="0"/>
              </a:spcBef>
              <a:spcAft>
                <a:spcPts val="0"/>
              </a:spcAft>
              <a:buClr>
                <a:srgbClr val="D0A863"/>
              </a:buClr>
              <a:buSzPts val="2000"/>
              <a:buNone/>
            </a:pPr>
            <a:r>
              <a:t/>
            </a:r>
            <a:endParaRPr sz="2000"/>
          </a:p>
        </p:txBody>
      </p:sp>
      <p:sp>
        <p:nvSpPr>
          <p:cNvPr id="118" name="Google Shape;118;p14"/>
          <p:cNvSpPr txBox="1"/>
          <p:nvPr>
            <p:ph idx="10" type="dt"/>
          </p:nvPr>
        </p:nvSpPr>
        <p:spPr>
          <a:xfrm>
            <a:off x="838200" y="6471138"/>
            <a:ext cx="2743200" cy="250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05-11-2025</a:t>
            </a:r>
            <a:endParaRPr/>
          </a:p>
        </p:txBody>
      </p:sp>
      <p:sp>
        <p:nvSpPr>
          <p:cNvPr id="119" name="Google Shape;119;p14"/>
          <p:cNvSpPr txBox="1"/>
          <p:nvPr>
            <p:ph idx="11" type="ftr"/>
          </p:nvPr>
        </p:nvSpPr>
        <p:spPr>
          <a:xfrm>
            <a:off x="4038600" y="6471138"/>
            <a:ext cx="4114800" cy="25033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Data Engineering Project</a:t>
            </a:r>
            <a:endParaRPr/>
          </a:p>
        </p:txBody>
      </p:sp>
      <p:sp>
        <p:nvSpPr>
          <p:cNvPr id="120" name="Google Shape;120;p14"/>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R.V. College of Engineering - Wikiwand" id="121" name="Google Shape;121;p14"/>
          <p:cNvPicPr preferRelativeResize="0"/>
          <p:nvPr/>
        </p:nvPicPr>
        <p:blipFill rotWithShape="1">
          <a:blip r:embed="rId3">
            <a:alphaModFix/>
          </a:blip>
          <a:srcRect b="0" l="0" r="0" t="0"/>
          <a:stretch/>
        </p:blipFill>
        <p:spPr>
          <a:xfrm>
            <a:off x="387876" y="335145"/>
            <a:ext cx="900647" cy="9006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838200" y="365125"/>
            <a:ext cx="8858400" cy="87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Project Overview</a:t>
            </a:r>
            <a:endParaRPr/>
          </a:p>
        </p:txBody>
      </p:sp>
      <p:sp>
        <p:nvSpPr>
          <p:cNvPr id="128" name="Google Shape;128;p15"/>
          <p:cNvSpPr txBox="1"/>
          <p:nvPr>
            <p:ph idx="1" type="body"/>
          </p:nvPr>
        </p:nvSpPr>
        <p:spPr>
          <a:xfrm>
            <a:off x="838200" y="1794225"/>
            <a:ext cx="10515600" cy="3853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800">
                <a:solidFill>
                  <a:srgbClr val="D0A863"/>
                </a:solidFill>
              </a:rPr>
              <a:t>This project implements an end-to-end Azure Data Engineering pipeline for the AdventureWorks dataset, simulating a real-world enterprise data workflow. It integrates multiple Azure services—Azure Data Factory (ADF), Azure Data Lake Storage Gen2, Azure Databricks, Azure Synapse Analytics, and Power BI—to enable seamless data ingestion, transformation, and visualization.</a:t>
            </a:r>
            <a:endParaRPr sz="1800">
              <a:solidFill>
                <a:srgbClr val="D0A863"/>
              </a:solidFill>
            </a:endParaRPr>
          </a:p>
          <a:p>
            <a:pPr indent="0" lvl="0" marL="0" rtl="0" algn="l">
              <a:lnSpc>
                <a:spcPct val="115000"/>
              </a:lnSpc>
              <a:spcBef>
                <a:spcPts val="1200"/>
              </a:spcBef>
              <a:spcAft>
                <a:spcPts val="0"/>
              </a:spcAft>
              <a:buClr>
                <a:schemeClr val="dk1"/>
              </a:buClr>
              <a:buSzPts val="1100"/>
              <a:buFont typeface="Arial"/>
              <a:buNone/>
            </a:pPr>
            <a:r>
              <a:rPr lang="en-US" sz="1800">
                <a:solidFill>
                  <a:srgbClr val="D0A863"/>
                </a:solidFill>
              </a:rPr>
              <a:t>The pipeline automates data extraction from GitHub APIs, performs data cleansing and transformation using Apache Spark in Databricks, and loads the curated data into Azure Synapse Analytics for analytical reporting through Power BI dashboards.</a:t>
            </a:r>
            <a:endParaRPr sz="1800">
              <a:solidFill>
                <a:srgbClr val="D0A863"/>
              </a:solidFill>
            </a:endParaRPr>
          </a:p>
          <a:p>
            <a:pPr indent="0" lvl="0" marL="0" rtl="0" algn="l">
              <a:lnSpc>
                <a:spcPct val="115000"/>
              </a:lnSpc>
              <a:spcBef>
                <a:spcPts val="1200"/>
              </a:spcBef>
              <a:spcAft>
                <a:spcPts val="0"/>
              </a:spcAft>
              <a:buClr>
                <a:schemeClr val="dk1"/>
              </a:buClr>
              <a:buSzPts val="1100"/>
              <a:buFont typeface="Arial"/>
              <a:buNone/>
            </a:pPr>
            <a:r>
              <a:rPr lang="en-US" sz="1800">
                <a:solidFill>
                  <a:srgbClr val="D0A863"/>
                </a:solidFill>
              </a:rPr>
              <a:t>Following the Medallion Architecture (Bronze–Silver–Gold), the system ensures scalability, automation, and maintainability, representing a complete cloud-based ETL/ELT solution aligned with modern data engineering best practices.</a:t>
            </a:r>
            <a:endParaRPr sz="1800">
              <a:solidFill>
                <a:srgbClr val="D0A863"/>
              </a:solidFill>
            </a:endParaRPr>
          </a:p>
          <a:p>
            <a:pPr indent="0" lvl="0" marL="0" rtl="0" algn="l">
              <a:spcBef>
                <a:spcPts val="1200"/>
              </a:spcBef>
              <a:spcAft>
                <a:spcPts val="0"/>
              </a:spcAft>
              <a:buNone/>
            </a:pPr>
            <a:r>
              <a:t/>
            </a:r>
            <a:endParaRPr sz="1800">
              <a:solidFill>
                <a:srgbClr val="D0A863"/>
              </a:solidFill>
            </a:endParaRPr>
          </a:p>
        </p:txBody>
      </p:sp>
      <p:sp>
        <p:nvSpPr>
          <p:cNvPr id="129" name="Google Shape;129;p15"/>
          <p:cNvSpPr txBox="1"/>
          <p:nvPr>
            <p:ph idx="12" type="sldNum"/>
          </p:nvPr>
        </p:nvSpPr>
        <p:spPr>
          <a:xfrm>
            <a:off x="8610600" y="6471138"/>
            <a:ext cx="2743200" cy="250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6"/>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5" name="Google Shape;135;p16"/>
          <p:cNvSpPr/>
          <p:nvPr/>
        </p:nvSpPr>
        <p:spPr>
          <a:xfrm>
            <a:off x="3126069" y="165525"/>
            <a:ext cx="5572800" cy="622200"/>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D7AC54"/>
                </a:solidFill>
                <a:latin typeface="Cantarell"/>
                <a:ea typeface="Cantarell"/>
                <a:cs typeface="Cantarell"/>
                <a:sym typeface="Cantarell"/>
              </a:rPr>
              <a:t>Dataset(s) details</a:t>
            </a:r>
            <a:endParaRPr/>
          </a:p>
        </p:txBody>
      </p:sp>
      <p:sp>
        <p:nvSpPr>
          <p:cNvPr id="136" name="Google Shape;136;p16"/>
          <p:cNvSpPr txBox="1"/>
          <p:nvPr/>
        </p:nvSpPr>
        <p:spPr>
          <a:xfrm>
            <a:off x="6969700" y="5951100"/>
            <a:ext cx="51360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u="sng">
                <a:solidFill>
                  <a:schemeClr val="accent1"/>
                </a:solidFill>
              </a:rPr>
              <a:t>https://www.kaggle.com/datasets/ukveteran/adventure-works</a:t>
            </a:r>
            <a:endParaRPr u="sng">
              <a:solidFill>
                <a:schemeClr val="accent1"/>
              </a:solidFill>
            </a:endParaRPr>
          </a:p>
        </p:txBody>
      </p:sp>
      <p:sp>
        <p:nvSpPr>
          <p:cNvPr id="137" name="Google Shape;137;p16"/>
          <p:cNvSpPr txBox="1"/>
          <p:nvPr/>
        </p:nvSpPr>
        <p:spPr>
          <a:xfrm>
            <a:off x="823263" y="906900"/>
            <a:ext cx="10178400" cy="50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900">
                <a:solidFill>
                  <a:schemeClr val="lt1"/>
                </a:solidFill>
                <a:latin typeface="Cantarell"/>
                <a:ea typeface="Cantarell"/>
                <a:cs typeface="Cantarell"/>
                <a:sym typeface="Cantarell"/>
              </a:rPr>
              <a:t>Adventure Works Dataset</a:t>
            </a:r>
            <a:br>
              <a:rPr b="1" lang="en-US" sz="1500">
                <a:solidFill>
                  <a:srgbClr val="D7AC54"/>
                </a:solidFill>
                <a:latin typeface="Cantarell"/>
                <a:ea typeface="Cantarell"/>
                <a:cs typeface="Cantarell"/>
                <a:sym typeface="Cantarell"/>
              </a:rPr>
            </a:br>
            <a:r>
              <a:rPr lang="en-US" sz="1500">
                <a:solidFill>
                  <a:srgbClr val="D7AC54"/>
                </a:solidFill>
                <a:latin typeface="Cantarell"/>
                <a:ea typeface="Cantarell"/>
                <a:cs typeface="Cantarell"/>
                <a:sym typeface="Cantarell"/>
              </a:rPr>
              <a:t>The Adventure Works dataset, sourced from Kaggle, represents a structured, real-world inspired business database designed for academic and analytical experimentation. It models the operations of a fictional manufacturing and retail company specializing in bicycles and related products. The dataset offers a clean relational structure suitable for research in data analytics, SQL querying, database design, and business intelligence.</a:t>
            </a:r>
            <a:endParaRPr b="1" sz="1500">
              <a:solidFill>
                <a:srgbClr val="D7AC54"/>
              </a:solidFill>
              <a:latin typeface="Cantarell"/>
              <a:ea typeface="Cantarell"/>
              <a:cs typeface="Cantarell"/>
              <a:sym typeface="Cantarell"/>
            </a:endParaRPr>
          </a:p>
          <a:p>
            <a:pPr indent="0" lvl="0" marL="0" rtl="0" algn="l">
              <a:lnSpc>
                <a:spcPct val="115000"/>
              </a:lnSpc>
              <a:spcBef>
                <a:spcPts val="1200"/>
              </a:spcBef>
              <a:spcAft>
                <a:spcPts val="0"/>
              </a:spcAft>
              <a:buNone/>
            </a:pPr>
            <a:r>
              <a:rPr b="1" lang="en-US" sz="1900">
                <a:solidFill>
                  <a:schemeClr val="lt1"/>
                </a:solidFill>
                <a:latin typeface="Cantarell"/>
                <a:ea typeface="Cantarell"/>
                <a:cs typeface="Cantarell"/>
                <a:sym typeface="Cantarell"/>
              </a:rPr>
              <a:t>Dataset Characteristics</a:t>
            </a:r>
            <a:r>
              <a:rPr b="1" lang="en-US" sz="1900">
                <a:solidFill>
                  <a:schemeClr val="lt1"/>
                </a:solidFill>
                <a:latin typeface="Cantarell"/>
                <a:ea typeface="Cantarell"/>
                <a:cs typeface="Cantarell"/>
                <a:sym typeface="Cantarell"/>
              </a:rPr>
              <a:t>:</a:t>
            </a:r>
            <a:endParaRPr b="1" sz="1900">
              <a:solidFill>
                <a:schemeClr val="lt1"/>
              </a:solidFill>
              <a:latin typeface="Cantarell"/>
              <a:ea typeface="Cantarell"/>
              <a:cs typeface="Cantarell"/>
              <a:sym typeface="Cantarell"/>
            </a:endParaRPr>
          </a:p>
          <a:p>
            <a:pPr indent="0" lvl="0" marL="0" rtl="0" algn="l">
              <a:lnSpc>
                <a:spcPct val="115000"/>
              </a:lnSpc>
              <a:spcBef>
                <a:spcPts val="1200"/>
              </a:spcBef>
              <a:spcAft>
                <a:spcPts val="0"/>
              </a:spcAft>
              <a:buNone/>
            </a:pPr>
            <a:r>
              <a:rPr b="1" lang="en-US" sz="1500">
                <a:solidFill>
                  <a:srgbClr val="D7AC54"/>
                </a:solidFill>
                <a:highlight>
                  <a:srgbClr val="233039"/>
                </a:highlight>
                <a:latin typeface="Cantarell"/>
                <a:ea typeface="Cantarell"/>
                <a:cs typeface="Cantarell"/>
                <a:sym typeface="Cantarell"/>
              </a:rPr>
              <a:t>Total Tables:</a:t>
            </a:r>
            <a:r>
              <a:rPr lang="en-US" sz="1500">
                <a:solidFill>
                  <a:srgbClr val="D7AC54"/>
                </a:solidFill>
                <a:highlight>
                  <a:srgbClr val="233039"/>
                </a:highlight>
                <a:latin typeface="Cantarell"/>
                <a:ea typeface="Cantarell"/>
                <a:cs typeface="Cantarell"/>
                <a:sym typeface="Cantarell"/>
              </a:rPr>
              <a:t> 10 relational tables</a:t>
            </a:r>
            <a:endParaRPr sz="1500">
              <a:solidFill>
                <a:srgbClr val="D7AC54"/>
              </a:solidFill>
              <a:highlight>
                <a:srgbClr val="233039"/>
              </a:highlight>
              <a:latin typeface="Cantarell"/>
              <a:ea typeface="Cantarell"/>
              <a:cs typeface="Cantarell"/>
              <a:sym typeface="Cantarell"/>
            </a:endParaRPr>
          </a:p>
          <a:p>
            <a:pPr indent="0" lvl="0" marL="0" rtl="0" algn="l">
              <a:lnSpc>
                <a:spcPct val="115000"/>
              </a:lnSpc>
              <a:spcBef>
                <a:spcPts val="1200"/>
              </a:spcBef>
              <a:spcAft>
                <a:spcPts val="0"/>
              </a:spcAft>
              <a:buNone/>
            </a:pPr>
            <a:r>
              <a:rPr b="1" lang="en-US" sz="1500">
                <a:solidFill>
                  <a:srgbClr val="D7AC54"/>
                </a:solidFill>
                <a:highlight>
                  <a:srgbClr val="233039"/>
                </a:highlight>
                <a:latin typeface="Cantarell"/>
                <a:ea typeface="Cantarell"/>
                <a:cs typeface="Cantarell"/>
                <a:sym typeface="Cantarell"/>
              </a:rPr>
              <a:t>Data Domains Covered:</a:t>
            </a:r>
            <a:endParaRPr b="1" sz="1500">
              <a:solidFill>
                <a:srgbClr val="D7AC54"/>
              </a:solidFill>
              <a:highlight>
                <a:srgbClr val="233039"/>
              </a:highlight>
              <a:latin typeface="Cantarell"/>
              <a:ea typeface="Cantarell"/>
              <a:cs typeface="Cantarell"/>
              <a:sym typeface="Cantarell"/>
            </a:endParaRPr>
          </a:p>
          <a:p>
            <a:pPr indent="-323850" lvl="0" marL="457200" rtl="0" algn="l">
              <a:lnSpc>
                <a:spcPct val="115000"/>
              </a:lnSpc>
              <a:spcBef>
                <a:spcPts val="1200"/>
              </a:spcBef>
              <a:spcAft>
                <a:spcPts val="0"/>
              </a:spcAft>
              <a:buClr>
                <a:srgbClr val="D7AC54"/>
              </a:buClr>
              <a:buSzPts val="1500"/>
              <a:buFont typeface="Cantarell"/>
              <a:buChar char="●"/>
            </a:pPr>
            <a:r>
              <a:rPr lang="en-US" sz="1500">
                <a:solidFill>
                  <a:srgbClr val="D7AC54"/>
                </a:solidFill>
                <a:highlight>
                  <a:srgbClr val="233039"/>
                </a:highlight>
                <a:latin typeface="Cantarell"/>
                <a:ea typeface="Cantarell"/>
                <a:cs typeface="Cantarell"/>
                <a:sym typeface="Cantarell"/>
              </a:rPr>
              <a:t>Customers</a:t>
            </a:r>
            <a:endParaRPr sz="1500">
              <a:solidFill>
                <a:srgbClr val="D7AC54"/>
              </a:solidFill>
              <a:highlight>
                <a:srgbClr val="233039"/>
              </a:highlight>
              <a:latin typeface="Cantarell"/>
              <a:ea typeface="Cantarell"/>
              <a:cs typeface="Cantarell"/>
              <a:sym typeface="Cantarell"/>
            </a:endParaRPr>
          </a:p>
          <a:p>
            <a:pPr indent="-323850" lvl="0" marL="457200" rtl="0" algn="l">
              <a:lnSpc>
                <a:spcPct val="115000"/>
              </a:lnSpc>
              <a:spcBef>
                <a:spcPts val="0"/>
              </a:spcBef>
              <a:spcAft>
                <a:spcPts val="0"/>
              </a:spcAft>
              <a:buClr>
                <a:srgbClr val="D7AC54"/>
              </a:buClr>
              <a:buSzPts val="1500"/>
              <a:buFont typeface="Cantarell"/>
              <a:buChar char="●"/>
            </a:pPr>
            <a:r>
              <a:rPr lang="en-US" sz="1500">
                <a:solidFill>
                  <a:srgbClr val="D7AC54"/>
                </a:solidFill>
                <a:highlight>
                  <a:srgbClr val="233039"/>
                </a:highlight>
                <a:latin typeface="Cantarell"/>
                <a:ea typeface="Cantarell"/>
                <a:cs typeface="Cantarell"/>
                <a:sym typeface="Cantarell"/>
              </a:rPr>
              <a:t>Products</a:t>
            </a:r>
            <a:endParaRPr sz="1500">
              <a:solidFill>
                <a:srgbClr val="D7AC54"/>
              </a:solidFill>
              <a:highlight>
                <a:srgbClr val="233039"/>
              </a:highlight>
              <a:latin typeface="Cantarell"/>
              <a:ea typeface="Cantarell"/>
              <a:cs typeface="Cantarell"/>
              <a:sym typeface="Cantarell"/>
            </a:endParaRPr>
          </a:p>
          <a:p>
            <a:pPr indent="-323850" lvl="0" marL="457200" rtl="0" algn="l">
              <a:lnSpc>
                <a:spcPct val="115000"/>
              </a:lnSpc>
              <a:spcBef>
                <a:spcPts val="0"/>
              </a:spcBef>
              <a:spcAft>
                <a:spcPts val="0"/>
              </a:spcAft>
              <a:buClr>
                <a:srgbClr val="D7AC54"/>
              </a:buClr>
              <a:buSzPts val="1500"/>
              <a:buFont typeface="Cantarell"/>
              <a:buChar char="●"/>
            </a:pPr>
            <a:r>
              <a:rPr lang="en-US" sz="1500">
                <a:solidFill>
                  <a:srgbClr val="D7AC54"/>
                </a:solidFill>
                <a:highlight>
                  <a:srgbClr val="233039"/>
                </a:highlight>
                <a:latin typeface="Cantarell"/>
                <a:ea typeface="Cantarell"/>
                <a:cs typeface="Cantarell"/>
                <a:sym typeface="Cantarell"/>
              </a:rPr>
              <a:t>Sales and Order Details</a:t>
            </a:r>
            <a:endParaRPr sz="1500">
              <a:solidFill>
                <a:srgbClr val="D7AC54"/>
              </a:solidFill>
              <a:highlight>
                <a:srgbClr val="233039"/>
              </a:highlight>
              <a:latin typeface="Cantarell"/>
              <a:ea typeface="Cantarell"/>
              <a:cs typeface="Cantarell"/>
              <a:sym typeface="Cantarell"/>
            </a:endParaRPr>
          </a:p>
          <a:p>
            <a:pPr indent="-323850" lvl="0" marL="457200" rtl="0" algn="l">
              <a:lnSpc>
                <a:spcPct val="115000"/>
              </a:lnSpc>
              <a:spcBef>
                <a:spcPts val="0"/>
              </a:spcBef>
              <a:spcAft>
                <a:spcPts val="0"/>
              </a:spcAft>
              <a:buClr>
                <a:srgbClr val="D7AC54"/>
              </a:buClr>
              <a:buSzPts val="1500"/>
              <a:buFont typeface="Cantarell"/>
              <a:buChar char="●"/>
            </a:pPr>
            <a:r>
              <a:rPr lang="en-US" sz="1500">
                <a:solidFill>
                  <a:srgbClr val="D7AC54"/>
                </a:solidFill>
                <a:highlight>
                  <a:srgbClr val="233039"/>
                </a:highlight>
                <a:latin typeface="Cantarell"/>
                <a:ea typeface="Cantarell"/>
                <a:cs typeface="Cantarell"/>
                <a:sym typeface="Cantarell"/>
              </a:rPr>
              <a:t>Employees</a:t>
            </a:r>
            <a:endParaRPr sz="1500">
              <a:solidFill>
                <a:srgbClr val="D7AC54"/>
              </a:solidFill>
              <a:highlight>
                <a:srgbClr val="233039"/>
              </a:highlight>
              <a:latin typeface="Cantarell"/>
              <a:ea typeface="Cantarell"/>
              <a:cs typeface="Cantarell"/>
              <a:sym typeface="Cantarell"/>
            </a:endParaRPr>
          </a:p>
          <a:p>
            <a:pPr indent="-323850" lvl="0" marL="457200" rtl="0" algn="l">
              <a:lnSpc>
                <a:spcPct val="115000"/>
              </a:lnSpc>
              <a:spcBef>
                <a:spcPts val="0"/>
              </a:spcBef>
              <a:spcAft>
                <a:spcPts val="0"/>
              </a:spcAft>
              <a:buClr>
                <a:srgbClr val="D7AC54"/>
              </a:buClr>
              <a:buSzPts val="1500"/>
              <a:buFont typeface="Cantarell"/>
              <a:buChar char="●"/>
            </a:pPr>
            <a:r>
              <a:rPr lang="en-US" sz="1500">
                <a:solidFill>
                  <a:srgbClr val="D7AC54"/>
                </a:solidFill>
                <a:highlight>
                  <a:srgbClr val="233039"/>
                </a:highlight>
                <a:latin typeface="Cantarell"/>
                <a:ea typeface="Cantarell"/>
                <a:cs typeface="Cantarell"/>
                <a:sym typeface="Cantarell"/>
              </a:rPr>
              <a:t>Territories and Geography</a:t>
            </a:r>
            <a:endParaRPr sz="1500">
              <a:solidFill>
                <a:srgbClr val="D7AC54"/>
              </a:solidFill>
              <a:highlight>
                <a:srgbClr val="233039"/>
              </a:highlight>
              <a:latin typeface="Cantarell"/>
              <a:ea typeface="Cantarell"/>
              <a:cs typeface="Cantarell"/>
              <a:sym typeface="Cantarell"/>
            </a:endParaRPr>
          </a:p>
          <a:p>
            <a:pPr indent="0" lvl="0" marL="0" rtl="0" algn="l">
              <a:lnSpc>
                <a:spcPct val="115000"/>
              </a:lnSpc>
              <a:spcBef>
                <a:spcPts val="1200"/>
              </a:spcBef>
              <a:spcAft>
                <a:spcPts val="0"/>
              </a:spcAft>
              <a:buNone/>
            </a:pPr>
            <a:r>
              <a:rPr b="1" lang="en-US" sz="1500">
                <a:solidFill>
                  <a:srgbClr val="D7AC54"/>
                </a:solidFill>
                <a:highlight>
                  <a:srgbClr val="233039"/>
                </a:highlight>
                <a:latin typeface="Cantarell"/>
                <a:ea typeface="Cantarell"/>
                <a:cs typeface="Cantarell"/>
                <a:sym typeface="Cantarell"/>
              </a:rPr>
              <a:t>Schema Type:</a:t>
            </a:r>
            <a:r>
              <a:rPr lang="en-US" sz="1500">
                <a:solidFill>
                  <a:srgbClr val="D7AC54"/>
                </a:solidFill>
                <a:highlight>
                  <a:srgbClr val="233039"/>
                </a:highlight>
                <a:latin typeface="Cantarell"/>
                <a:ea typeface="Cantarell"/>
                <a:cs typeface="Cantarell"/>
                <a:sym typeface="Cantarell"/>
              </a:rPr>
              <a:t> Normalized relational schema supporting referential integrity</a:t>
            </a:r>
            <a:endParaRPr b="1" sz="1500">
              <a:solidFill>
                <a:srgbClr val="D7AC54"/>
              </a:solidFill>
              <a:highlight>
                <a:srgbClr val="233039"/>
              </a:highlight>
              <a:latin typeface="Cantarell"/>
              <a:ea typeface="Cantarell"/>
              <a:cs typeface="Cantarell"/>
              <a:sym typeface="Cantare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3" name="Google Shape;143;p17"/>
          <p:cNvSpPr/>
          <p:nvPr/>
        </p:nvSpPr>
        <p:spPr>
          <a:xfrm>
            <a:off x="3115783" y="66482"/>
            <a:ext cx="5572665" cy="622299"/>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D7AC54"/>
                </a:solidFill>
                <a:latin typeface="Cantarell"/>
                <a:ea typeface="Cantarell"/>
                <a:cs typeface="Cantarell"/>
                <a:sym typeface="Cantarell"/>
              </a:rPr>
              <a:t>Literature Survey</a:t>
            </a:r>
            <a:endParaRPr/>
          </a:p>
        </p:txBody>
      </p:sp>
      <p:sp>
        <p:nvSpPr>
          <p:cNvPr id="144" name="Google Shape;144;p17"/>
          <p:cNvSpPr txBox="1"/>
          <p:nvPr/>
        </p:nvSpPr>
        <p:spPr>
          <a:xfrm>
            <a:off x="183890" y="1056591"/>
            <a:ext cx="11169910" cy="4434509"/>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100"/>
              <a:buNone/>
            </a:pPr>
            <a:r>
              <a:rPr lang="en-US" sz="1800">
                <a:solidFill>
                  <a:schemeClr val="lt1"/>
                </a:solidFill>
                <a:highlight>
                  <a:srgbClr val="233039"/>
                </a:highlight>
                <a:latin typeface="Roboto"/>
                <a:ea typeface="Roboto"/>
                <a:cs typeface="Roboto"/>
                <a:sym typeface="Roboto"/>
              </a:rPr>
              <a:t>Leveraging Azure Data Factory Pipelines For Efficient Data Refreshes In BI Applications</a:t>
            </a:r>
            <a:r>
              <a:rPr b="0" i="0" lang="en-US" sz="1800" u="none" cap="none" strike="noStrike">
                <a:solidFill>
                  <a:schemeClr val="lt1"/>
                </a:solidFill>
                <a:highlight>
                  <a:srgbClr val="233039"/>
                </a:highlight>
                <a:latin typeface="Cantarell"/>
                <a:ea typeface="Cantarell"/>
                <a:cs typeface="Cantarell"/>
                <a:sym typeface="Cantarell"/>
              </a:rPr>
              <a:t>:</a:t>
            </a:r>
            <a:r>
              <a:rPr b="0" i="0" lang="en-US" sz="1800" u="none" cap="none" strike="noStrike">
                <a:solidFill>
                  <a:schemeClr val="lt1"/>
                </a:solidFill>
                <a:latin typeface="Cantarell"/>
                <a:ea typeface="Cantarell"/>
                <a:cs typeface="Cantarell"/>
                <a:sym typeface="Cantarell"/>
              </a:rPr>
              <a:t> </a:t>
            </a:r>
            <a:r>
              <a:rPr lang="en-US" sz="1800">
                <a:solidFill>
                  <a:srgbClr val="D7AC54"/>
                </a:solidFill>
              </a:rPr>
              <a:t>This paper examines how Azure Data Factory (ADF) pipelines can streamline data refresh processes in Business Intelligence (BI) applications by automating ingestion, transformation, and loading of data. It outlines best practices such as scheduling, performance monitoring, error handling, and scalability to support growing data demands. The results show improvements in data accuracy, refresh speed, and user satisfaction. Overall, the study demonstrates that ADF enhances agility and efficiency in BI workflows.</a:t>
            </a:r>
            <a:endParaRPr sz="1800">
              <a:solidFill>
                <a:srgbClr val="D7AC54"/>
              </a:solidFill>
            </a:endParaRPr>
          </a:p>
          <a:p>
            <a:pPr indent="0" lvl="0" marL="114300" marR="0" rtl="0" algn="just">
              <a:lnSpc>
                <a:spcPct val="100000"/>
              </a:lnSpc>
              <a:spcBef>
                <a:spcPts val="0"/>
              </a:spcBef>
              <a:spcAft>
                <a:spcPts val="0"/>
              </a:spcAft>
              <a:buNone/>
            </a:pPr>
            <a:r>
              <a:t/>
            </a:r>
            <a:endParaRPr b="0" i="0" sz="1800" u="none" cap="none" strike="noStrike">
              <a:solidFill>
                <a:srgbClr val="D7AC54"/>
              </a:solidFill>
              <a:latin typeface="Cantarell"/>
              <a:ea typeface="Cantarell"/>
              <a:cs typeface="Cantarell"/>
              <a:sym typeface="Cantarell"/>
            </a:endParaRPr>
          </a:p>
          <a:p>
            <a:pPr indent="0" lvl="0" marL="114300" marR="0" rtl="0" algn="just">
              <a:lnSpc>
                <a:spcPct val="100000"/>
              </a:lnSpc>
              <a:spcBef>
                <a:spcPts val="0"/>
              </a:spcBef>
              <a:spcAft>
                <a:spcPts val="0"/>
              </a:spcAft>
              <a:buNone/>
            </a:pPr>
            <a:r>
              <a:t/>
            </a:r>
            <a:endParaRPr b="0" i="0" sz="1800" u="none" cap="none" strike="noStrike">
              <a:solidFill>
                <a:srgbClr val="D7AC54"/>
              </a:solidFill>
              <a:latin typeface="Cantarell"/>
              <a:ea typeface="Cantarell"/>
              <a:cs typeface="Cantarell"/>
              <a:sym typeface="Cantarell"/>
            </a:endParaRPr>
          </a:p>
          <a:p>
            <a:pPr indent="0" lvl="0" marL="114300" marR="0" rtl="0" algn="just">
              <a:lnSpc>
                <a:spcPct val="100000"/>
              </a:lnSpc>
              <a:spcBef>
                <a:spcPts val="0"/>
              </a:spcBef>
              <a:spcAft>
                <a:spcPts val="0"/>
              </a:spcAft>
              <a:buNone/>
            </a:pPr>
            <a:r>
              <a:rPr b="0" i="0" lang="en-US" sz="1800" u="none" cap="none" strike="noStrike">
                <a:solidFill>
                  <a:srgbClr val="D7AC54"/>
                </a:solidFill>
                <a:latin typeface="Cantarell"/>
                <a:ea typeface="Cantarell"/>
                <a:cs typeface="Cantarell"/>
                <a:sym typeface="Cantarell"/>
              </a:rPr>
              <a:t>References: </a:t>
            </a:r>
            <a:r>
              <a:rPr lang="en-US" sz="1800">
                <a:solidFill>
                  <a:schemeClr val="lt1"/>
                </a:solidFill>
              </a:rPr>
              <a:t>Banoth, D. N., Khan, I., Mohana, M., Dandu, K., Goel, P., Jain, A. &amp; Shrivastav, A. (2022) ‘Leveraging Azure Data Factory Pipelines for Efficient Data Refreshes in BI Applications’, </a:t>
            </a:r>
            <a:r>
              <a:rPr i="1" lang="en-US" sz="1800">
                <a:solidFill>
                  <a:schemeClr val="lt1"/>
                </a:solidFill>
              </a:rPr>
              <a:t>International Journal of General Engineering and Technology (IJGET)</a:t>
            </a:r>
            <a:r>
              <a:rPr lang="en-US" sz="1800">
                <a:solidFill>
                  <a:schemeClr val="lt1"/>
                </a:solidFill>
              </a:rPr>
              <a:t>, 11(2), pp. 35-62. Available at:</a:t>
            </a:r>
            <a:r>
              <a:rPr lang="en-US" sz="1800">
                <a:solidFill>
                  <a:schemeClr val="lt1"/>
                </a:solidFill>
                <a:uFill>
                  <a:noFill/>
                </a:uFill>
                <a:hlinkClick r:id="rId3">
                  <a:extLst>
                    <a:ext uri="{A12FA001-AC4F-418D-AE19-62706E023703}">
                      <ahyp:hlinkClr val="tx"/>
                    </a:ext>
                  </a:extLst>
                </a:hlinkClick>
              </a:rPr>
              <a:t> </a:t>
            </a:r>
            <a:r>
              <a:rPr lang="en-US" sz="1800" u="sng">
                <a:solidFill>
                  <a:schemeClr val="lt1"/>
                </a:solidFill>
                <a:hlinkClick r:id="rId4">
                  <a:extLst>
                    <a:ext uri="{A12FA001-AC4F-418D-AE19-62706E023703}">
                      <ahyp:hlinkClr val="tx"/>
                    </a:ext>
                  </a:extLst>
                </a:hlinkClick>
              </a:rPr>
              <a:t>https://www.researchgate.net/publication/390897435_Leveraging_Azure_Data_Factory_Pipelines_For_Efficient_Data_Refreshes_In_BI_Applications</a:t>
            </a:r>
            <a:endParaRPr b="0" i="0" sz="1800" u="none" cap="none" strike="noStrike">
              <a:solidFill>
                <a:schemeClr val="lt1"/>
              </a:solidFill>
              <a:latin typeface="Cantarell"/>
              <a:ea typeface="Cantarell"/>
              <a:cs typeface="Cantarell"/>
              <a:sym typeface="Cantare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0" name="Google Shape;150;p18"/>
          <p:cNvSpPr/>
          <p:nvPr/>
        </p:nvSpPr>
        <p:spPr>
          <a:xfrm>
            <a:off x="3105509" y="508360"/>
            <a:ext cx="5572665" cy="622299"/>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D7AC54"/>
                </a:solidFill>
                <a:latin typeface="Cantarell"/>
                <a:ea typeface="Cantarell"/>
                <a:cs typeface="Cantarell"/>
                <a:sym typeface="Cantarell"/>
              </a:rPr>
              <a:t>Literature Survey Contd.</a:t>
            </a:r>
            <a:endParaRPr/>
          </a:p>
        </p:txBody>
      </p:sp>
      <p:sp>
        <p:nvSpPr>
          <p:cNvPr id="151" name="Google Shape;151;p18"/>
          <p:cNvSpPr txBox="1"/>
          <p:nvPr/>
        </p:nvSpPr>
        <p:spPr>
          <a:xfrm>
            <a:off x="311699" y="1152474"/>
            <a:ext cx="11390565" cy="4434509"/>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SzPts val="1100"/>
              <a:buNone/>
            </a:pPr>
            <a:r>
              <a:rPr lang="en-US" sz="2000">
                <a:solidFill>
                  <a:schemeClr val="lt1"/>
                </a:solidFill>
                <a:highlight>
                  <a:srgbClr val="233039"/>
                </a:highlight>
                <a:latin typeface="Cantarell"/>
                <a:ea typeface="Cantarell"/>
                <a:cs typeface="Cantarell"/>
                <a:sym typeface="Cantarell"/>
              </a:rPr>
              <a:t>Optimizing data pipeline for data analytics:</a:t>
            </a:r>
            <a:r>
              <a:rPr lang="en-US" sz="2000">
                <a:solidFill>
                  <a:srgbClr val="D7AC54"/>
                </a:solidFill>
                <a:latin typeface="Cantarell"/>
                <a:ea typeface="Cantarell"/>
                <a:cs typeface="Cantarell"/>
                <a:sym typeface="Cantarell"/>
              </a:rPr>
              <a:t>This thesis explores optimizing data pipeline architecture through a lakehouse approach, improving data management and analytics. Using AWS S3, dbt Cloud, and Snowflake, the AdventureWorks dataset is cleaned and preprocessed efficiently. The study examines orchestration, Snowpipe with AWS SNS, and micro-partitioning to boost performance. By integrating raw, historical, and transformed data into fact and dimension tables for Power BI, the pipeline achieves scalability, adaptability, and faster decision-making.</a:t>
            </a:r>
            <a:endParaRPr sz="2000">
              <a:solidFill>
                <a:srgbClr val="D7AC54"/>
              </a:solidFill>
              <a:latin typeface="Cantarell"/>
              <a:ea typeface="Cantarell"/>
              <a:cs typeface="Cantarell"/>
              <a:sym typeface="Cantarell"/>
            </a:endParaRPr>
          </a:p>
          <a:p>
            <a:pPr indent="0" lvl="0" marL="114300" marR="0" rtl="0" algn="just">
              <a:lnSpc>
                <a:spcPct val="100000"/>
              </a:lnSpc>
              <a:spcBef>
                <a:spcPts val="1200"/>
              </a:spcBef>
              <a:spcAft>
                <a:spcPts val="0"/>
              </a:spcAft>
              <a:buNone/>
            </a:pPr>
            <a:r>
              <a:t/>
            </a:r>
            <a:endParaRPr b="0" i="0" sz="2000" u="none" cap="none" strike="noStrike">
              <a:solidFill>
                <a:srgbClr val="D7AC54"/>
              </a:solidFill>
              <a:latin typeface="Cantarell"/>
              <a:ea typeface="Cantarell"/>
              <a:cs typeface="Cantarell"/>
              <a:sym typeface="Cantarell"/>
            </a:endParaRPr>
          </a:p>
          <a:p>
            <a:pPr indent="0" lvl="0" marL="114300" marR="0" rtl="0" algn="just">
              <a:lnSpc>
                <a:spcPct val="100000"/>
              </a:lnSpc>
              <a:spcBef>
                <a:spcPts val="0"/>
              </a:spcBef>
              <a:spcAft>
                <a:spcPts val="0"/>
              </a:spcAft>
              <a:buNone/>
            </a:pPr>
            <a:r>
              <a:rPr b="0" i="0" lang="en-US" sz="2000" u="none" cap="none" strike="noStrike">
                <a:solidFill>
                  <a:srgbClr val="D7AC54"/>
                </a:solidFill>
                <a:latin typeface="Cantarell"/>
                <a:ea typeface="Cantarell"/>
                <a:cs typeface="Cantarell"/>
                <a:sym typeface="Cantarell"/>
              </a:rPr>
              <a:t>References:</a:t>
            </a:r>
            <a:endParaRPr/>
          </a:p>
          <a:p>
            <a:pPr indent="0" lvl="0" marL="0" rtl="0" algn="l">
              <a:lnSpc>
                <a:spcPct val="115000"/>
              </a:lnSpc>
              <a:spcBef>
                <a:spcPts val="1200"/>
              </a:spcBef>
              <a:spcAft>
                <a:spcPts val="0"/>
              </a:spcAft>
              <a:buClr>
                <a:schemeClr val="dk1"/>
              </a:buClr>
              <a:buSzPts val="1100"/>
              <a:buFont typeface="Arial"/>
              <a:buNone/>
            </a:pPr>
            <a:r>
              <a:rPr lang="en-US" sz="1850">
                <a:solidFill>
                  <a:schemeClr val="lt1"/>
                </a:solidFill>
              </a:rPr>
              <a:t>Quang, N. D. P. (2024). </a:t>
            </a:r>
            <a:r>
              <a:rPr i="1" lang="en-US" sz="1850">
                <a:solidFill>
                  <a:schemeClr val="lt1"/>
                </a:solidFill>
              </a:rPr>
              <a:t>Optimizing Data Pipeline for Data Analytics</a:t>
            </a:r>
            <a:r>
              <a:rPr lang="en-US" sz="1850">
                <a:solidFill>
                  <a:schemeClr val="lt1"/>
                </a:solidFill>
              </a:rPr>
              <a:t>. Available at:</a:t>
            </a:r>
            <a:r>
              <a:rPr lang="en-US" sz="1850">
                <a:solidFill>
                  <a:schemeClr val="lt1"/>
                </a:solidFill>
                <a:uFill>
                  <a:noFill/>
                </a:uFill>
                <a:hlinkClick r:id="rId3">
                  <a:extLst>
                    <a:ext uri="{A12FA001-AC4F-418D-AE19-62706E023703}">
                      <ahyp:hlinkClr val="tx"/>
                    </a:ext>
                  </a:extLst>
                </a:hlinkClick>
              </a:rPr>
              <a:t> </a:t>
            </a:r>
            <a:r>
              <a:rPr lang="en-US" sz="1850" u="sng">
                <a:solidFill>
                  <a:schemeClr val="lt1"/>
                </a:solidFill>
                <a:hlinkClick r:id="rId4">
                  <a:extLst>
                    <a:ext uri="{A12FA001-AC4F-418D-AE19-62706E023703}">
                      <ahyp:hlinkClr val="tx"/>
                    </a:ext>
                  </a:extLst>
                </a:hlinkClick>
              </a:rPr>
              <a:t>https://epub.vgu.edu.vn/handle/dlibvgu/1861</a:t>
            </a:r>
            <a:r>
              <a:rPr lang="en-US" sz="1850">
                <a:solidFill>
                  <a:schemeClr val="lt1"/>
                </a:solidFill>
              </a:rPr>
              <a:t> .</a:t>
            </a:r>
            <a:endParaRPr sz="1850">
              <a:solidFill>
                <a:schemeClr val="lt1"/>
              </a:solidFill>
            </a:endParaRPr>
          </a:p>
          <a:p>
            <a:pPr indent="0" lvl="0" marL="114300" marR="0" rtl="0" algn="just">
              <a:lnSpc>
                <a:spcPct val="100000"/>
              </a:lnSpc>
              <a:spcBef>
                <a:spcPts val="1200"/>
              </a:spcBef>
              <a:spcAft>
                <a:spcPts val="0"/>
              </a:spcAft>
              <a:buNone/>
            </a:pPr>
            <a:r>
              <a:t/>
            </a:r>
            <a:endParaRPr sz="2000">
              <a:solidFill>
                <a:schemeClr val="lt1"/>
              </a:solidFill>
            </a:endParaRPr>
          </a:p>
          <a:p>
            <a:pPr indent="0" lvl="0" marL="114300" marR="0" rtl="0" algn="l">
              <a:lnSpc>
                <a:spcPct val="100000"/>
              </a:lnSpc>
              <a:spcBef>
                <a:spcPts val="0"/>
              </a:spcBef>
              <a:spcAft>
                <a:spcPts val="0"/>
              </a:spcAft>
              <a:buNone/>
            </a:pPr>
            <a:r>
              <a:rPr b="0" i="0" lang="en-US" sz="2000" u="none" cap="none" strike="noStrike">
                <a:solidFill>
                  <a:srgbClr val="D7AC54"/>
                </a:solidFill>
                <a:latin typeface="Cantarell"/>
                <a:ea typeface="Cantarell"/>
                <a:cs typeface="Cantarell"/>
                <a:sym typeface="Cantarell"/>
              </a:rPr>
              <a:t>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7" name="Google Shape;157;p19"/>
          <p:cNvSpPr/>
          <p:nvPr/>
        </p:nvSpPr>
        <p:spPr>
          <a:xfrm>
            <a:off x="2876003" y="205072"/>
            <a:ext cx="5572665" cy="622299"/>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D7AC54"/>
                </a:solidFill>
                <a:latin typeface="Cantarell"/>
                <a:ea typeface="Cantarell"/>
                <a:cs typeface="Cantarell"/>
                <a:sym typeface="Cantarell"/>
              </a:rPr>
              <a:t>Literature Survey Contd.</a:t>
            </a:r>
            <a:endParaRPr/>
          </a:p>
        </p:txBody>
      </p:sp>
      <p:sp>
        <p:nvSpPr>
          <p:cNvPr id="158" name="Google Shape;158;p19"/>
          <p:cNvSpPr txBox="1"/>
          <p:nvPr/>
        </p:nvSpPr>
        <p:spPr>
          <a:xfrm>
            <a:off x="369895" y="1039140"/>
            <a:ext cx="11452210" cy="4930145"/>
          </a:xfrm>
          <a:prstGeom prst="rect">
            <a:avLst/>
          </a:prstGeom>
          <a:noFill/>
          <a:ln>
            <a:noFill/>
          </a:ln>
        </p:spPr>
        <p:txBody>
          <a:bodyPr anchorCtr="0" anchor="t" bIns="91425" lIns="91425" spcFirstLastPara="1" rIns="91425" wrap="square" tIns="91425">
            <a:normAutofit fontScale="85000" lnSpcReduction="20000"/>
          </a:bodyPr>
          <a:lstStyle/>
          <a:p>
            <a:pPr indent="0" lvl="0" marL="38100" marR="38100" rtl="0" algn="l">
              <a:lnSpc>
                <a:spcPct val="109090"/>
              </a:lnSpc>
              <a:spcBef>
                <a:spcPts val="0"/>
              </a:spcBef>
              <a:spcAft>
                <a:spcPts val="0"/>
              </a:spcAft>
              <a:buClr>
                <a:schemeClr val="dk1"/>
              </a:buClr>
              <a:buSzPct val="47826"/>
              <a:buFont typeface="Arial"/>
              <a:buNone/>
            </a:pPr>
            <a:r>
              <a:rPr lang="en-US" sz="2300">
                <a:solidFill>
                  <a:schemeClr val="lt1"/>
                </a:solidFill>
                <a:uFill>
                  <a:noFill/>
                </a:uFill>
                <a:hlinkClick r:id="rId3">
                  <a:extLst>
                    <a:ext uri="{A12FA001-AC4F-418D-AE19-62706E023703}">
                      <ahyp:hlinkClr val="tx"/>
                    </a:ext>
                  </a:extLst>
                </a:hlinkClick>
              </a:rPr>
              <a:t>Active Learning via a Sample Database: The Case of Microsoft's Adventure Works</a:t>
            </a:r>
            <a:r>
              <a:rPr lang="en-US" sz="2300">
                <a:solidFill>
                  <a:srgbClr val="D0A863"/>
                </a:solidFill>
                <a:latin typeface="Cantarell"/>
                <a:ea typeface="Cantarell"/>
                <a:cs typeface="Cantarell"/>
                <a:sym typeface="Cantarell"/>
              </a:rPr>
              <a:t>: This paper highlights the use of Microsoft’s Adventure Works (AW) database to teach advanced database skills in a realistic, hands-on environment. It emphasizes active learning as essential for developing robust querying and management skills. Unlike small textbook databases, AW offers a comprehensive, lifelike structure that reflects real business processes. The study demonstrates its value in supporting pedagogical objectives within undergraduate CIS programs.</a:t>
            </a:r>
            <a:endParaRPr sz="2300">
              <a:solidFill>
                <a:srgbClr val="D0A863"/>
              </a:solidFill>
              <a:latin typeface="Cantarell"/>
              <a:ea typeface="Cantarell"/>
              <a:cs typeface="Cantarell"/>
              <a:sym typeface="Cantarell"/>
            </a:endParaRPr>
          </a:p>
          <a:p>
            <a:pPr indent="0" lvl="0" marL="114300" marR="0" rtl="0" algn="just">
              <a:lnSpc>
                <a:spcPct val="100000"/>
              </a:lnSpc>
              <a:spcBef>
                <a:spcPts val="0"/>
              </a:spcBef>
              <a:spcAft>
                <a:spcPts val="0"/>
              </a:spcAft>
              <a:buNone/>
            </a:pPr>
            <a:r>
              <a:t/>
            </a:r>
            <a:endParaRPr sz="2300">
              <a:solidFill>
                <a:schemeClr val="lt1"/>
              </a:solidFill>
              <a:latin typeface="Cantarell"/>
              <a:ea typeface="Cantarell"/>
              <a:cs typeface="Cantarell"/>
              <a:sym typeface="Cantarell"/>
            </a:endParaRPr>
          </a:p>
          <a:p>
            <a:pPr indent="0" lvl="0" marL="114300" marR="0" rtl="0" algn="just">
              <a:lnSpc>
                <a:spcPct val="100000"/>
              </a:lnSpc>
              <a:spcBef>
                <a:spcPts val="0"/>
              </a:spcBef>
              <a:spcAft>
                <a:spcPts val="0"/>
              </a:spcAft>
              <a:buNone/>
            </a:pPr>
            <a:r>
              <a:t/>
            </a:r>
            <a:endParaRPr b="0" i="0" sz="2300" u="none" cap="none" strike="noStrike">
              <a:solidFill>
                <a:srgbClr val="D7AC54"/>
              </a:solidFill>
              <a:latin typeface="Cantarell"/>
              <a:ea typeface="Cantarell"/>
              <a:cs typeface="Cantarell"/>
              <a:sym typeface="Cantarell"/>
            </a:endParaRPr>
          </a:p>
          <a:p>
            <a:pPr indent="0" lvl="0" marL="0" marR="0" rtl="0" algn="just">
              <a:lnSpc>
                <a:spcPct val="100000"/>
              </a:lnSpc>
              <a:spcBef>
                <a:spcPts val="0"/>
              </a:spcBef>
              <a:spcAft>
                <a:spcPts val="0"/>
              </a:spcAft>
              <a:buNone/>
            </a:pPr>
            <a:r>
              <a:rPr b="0" i="0" lang="en-US" sz="2300" u="none" cap="none" strike="noStrike">
                <a:solidFill>
                  <a:srgbClr val="D7AC54"/>
                </a:solidFill>
                <a:latin typeface="Cantarell"/>
                <a:ea typeface="Cantarell"/>
                <a:cs typeface="Cantarell"/>
                <a:sym typeface="Cantarell"/>
              </a:rPr>
              <a:t>References:</a:t>
            </a:r>
            <a:endParaRPr sz="2300"/>
          </a:p>
          <a:p>
            <a:pPr indent="0" lvl="0" marL="114300" marR="0" rtl="0" algn="just">
              <a:lnSpc>
                <a:spcPct val="100000"/>
              </a:lnSpc>
              <a:spcBef>
                <a:spcPts val="0"/>
              </a:spcBef>
              <a:spcAft>
                <a:spcPts val="0"/>
              </a:spcAft>
              <a:buNone/>
            </a:pPr>
            <a:r>
              <a:t/>
            </a:r>
            <a:endParaRPr b="0" i="0" sz="2300" u="none" cap="none" strike="noStrike">
              <a:solidFill>
                <a:schemeClr val="lt1"/>
              </a:solidFill>
              <a:latin typeface="Cantarell"/>
              <a:ea typeface="Cantarell"/>
              <a:cs typeface="Cantarell"/>
              <a:sym typeface="Cantarell"/>
            </a:endParaRPr>
          </a:p>
          <a:p>
            <a:pPr indent="0" lvl="0" marL="0" rtl="0" algn="l">
              <a:lnSpc>
                <a:spcPct val="115000"/>
              </a:lnSpc>
              <a:spcBef>
                <a:spcPts val="1200"/>
              </a:spcBef>
              <a:spcAft>
                <a:spcPts val="0"/>
              </a:spcAft>
              <a:buClr>
                <a:schemeClr val="dk1"/>
              </a:buClr>
              <a:buSzPct val="47826"/>
              <a:buFont typeface="Arial"/>
              <a:buNone/>
            </a:pPr>
            <a:r>
              <a:rPr lang="en-US" sz="2300">
                <a:solidFill>
                  <a:schemeClr val="lt1"/>
                </a:solidFill>
              </a:rPr>
              <a:t>Mitri, M. (2015) ‘Active Learning via a Sample Database: The Case of Microsoft’s Adventure Works’, </a:t>
            </a:r>
            <a:r>
              <a:rPr i="1" lang="en-US" sz="2300">
                <a:solidFill>
                  <a:schemeClr val="lt1"/>
                </a:solidFill>
              </a:rPr>
              <a:t>Journal of Information Systems Education</a:t>
            </a:r>
            <a:r>
              <a:rPr lang="en-US" sz="2300">
                <a:solidFill>
                  <a:schemeClr val="lt1"/>
                </a:solidFill>
              </a:rPr>
              <a:t>, 26(3), pp. 177-186. Available at:</a:t>
            </a:r>
            <a:r>
              <a:rPr lang="en-US" sz="2300">
                <a:solidFill>
                  <a:schemeClr val="lt1"/>
                </a:solidFill>
                <a:uFill>
                  <a:noFill/>
                </a:uFill>
                <a:hlinkClick r:id="rId4">
                  <a:extLst>
                    <a:ext uri="{A12FA001-AC4F-418D-AE19-62706E023703}">
                      <ahyp:hlinkClr val="tx"/>
                    </a:ext>
                  </a:extLst>
                </a:hlinkClick>
              </a:rPr>
              <a:t> </a:t>
            </a:r>
            <a:r>
              <a:rPr lang="en-US" sz="2300" u="sng">
                <a:solidFill>
                  <a:schemeClr val="lt1"/>
                </a:solidFill>
                <a:hlinkClick r:id="rId5">
                  <a:extLst>
                    <a:ext uri="{A12FA001-AC4F-418D-AE19-62706E023703}">
                      <ahyp:hlinkClr val="tx"/>
                    </a:ext>
                  </a:extLst>
                </a:hlinkClick>
              </a:rPr>
              <a:t>https://aisel.aisnet.org/jise/vol26/iss3/1</a:t>
            </a:r>
            <a:r>
              <a:rPr lang="en-US" sz="2300">
                <a:solidFill>
                  <a:schemeClr val="lt1"/>
                </a:solidFill>
              </a:rPr>
              <a:t> . (</a:t>
            </a:r>
            <a:r>
              <a:rPr lang="en-US" sz="2300" u="sng">
                <a:solidFill>
                  <a:schemeClr val="lt1"/>
                </a:solidFill>
                <a:hlinkClick r:id="rId6">
                  <a:extLst>
                    <a:ext uri="{A12FA001-AC4F-418D-AE19-62706E023703}">
                      <ahyp:hlinkClr val="tx"/>
                    </a:ext>
                  </a:extLst>
                </a:hlinkClick>
              </a:rPr>
              <a:t>aisel.aisnet.org</a:t>
            </a:r>
            <a:r>
              <a:rPr lang="en-US" sz="2300">
                <a:solidFill>
                  <a:schemeClr val="lt1"/>
                </a:solidFill>
              </a:rPr>
              <a:t>)</a:t>
            </a:r>
            <a:endParaRPr sz="2300">
              <a:solidFill>
                <a:schemeClr val="lt1"/>
              </a:solidFill>
            </a:endParaRPr>
          </a:p>
          <a:p>
            <a:pPr indent="0" lvl="0" marL="114300" marR="0" rtl="0" algn="just">
              <a:lnSpc>
                <a:spcPct val="100000"/>
              </a:lnSpc>
              <a:spcBef>
                <a:spcPts val="1200"/>
              </a:spcBef>
              <a:spcAft>
                <a:spcPts val="0"/>
              </a:spcAft>
              <a:buNone/>
            </a:pPr>
            <a:r>
              <a:t/>
            </a:r>
            <a:endParaRPr sz="2000">
              <a:solidFill>
                <a:schemeClr val="lt1"/>
              </a:solidFill>
            </a:endParaRPr>
          </a:p>
          <a:p>
            <a:pPr indent="0" lvl="0" marL="114300" marR="0" rtl="0" algn="l">
              <a:lnSpc>
                <a:spcPct val="100000"/>
              </a:lnSpc>
              <a:spcBef>
                <a:spcPts val="0"/>
              </a:spcBef>
              <a:spcAft>
                <a:spcPts val="0"/>
              </a:spcAft>
              <a:buClr>
                <a:schemeClr val="dk1"/>
              </a:buClr>
              <a:buSzPct val="122448"/>
              <a:buFont typeface="Arial"/>
              <a:buNone/>
            </a:pPr>
            <a:r>
              <a:rPr b="0" i="0" lang="en-US" sz="2100" u="none" cap="none" strike="noStrike">
                <a:solidFill>
                  <a:srgbClr val="222222"/>
                </a:solidFill>
                <a:latin typeface="Arial"/>
                <a:ea typeface="Arial"/>
                <a:cs typeface="Arial"/>
                <a:sym typeface="Arial"/>
              </a:rPr>
              <a:t> </a:t>
            </a:r>
            <a:endParaRPr b="0" i="0" sz="21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ct val="107142"/>
              <a:buFont typeface="Arial"/>
              <a:buNone/>
            </a:pPr>
            <a:r>
              <a:t/>
            </a:r>
            <a:endParaRPr b="0" i="0" sz="2400" u="none" cap="none" strike="noStrike">
              <a:solidFill>
                <a:schemeClr val="dk1"/>
              </a:solidFill>
              <a:latin typeface="Arial"/>
              <a:ea typeface="Arial"/>
              <a:cs typeface="Arial"/>
              <a:sym typeface="Arial"/>
            </a:endParaRPr>
          </a:p>
          <a:p>
            <a:pPr indent="0" lvl="0" marL="114300" marR="0" rtl="0" algn="l">
              <a:lnSpc>
                <a:spcPct val="100000"/>
              </a:lnSpc>
              <a:spcBef>
                <a:spcPts val="0"/>
              </a:spcBef>
              <a:spcAft>
                <a:spcPts val="0"/>
              </a:spcAft>
              <a:buNone/>
            </a:pPr>
            <a:r>
              <a:rPr b="0" i="0" lang="en-US" sz="1400" u="none" cap="none" strike="noStrike">
                <a:solidFill>
                  <a:srgbClr val="222222"/>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idx="12" type="sldNum"/>
          </p:nvPr>
        </p:nvSpPr>
        <p:spPr>
          <a:xfrm>
            <a:off x="8610600" y="6471138"/>
            <a:ext cx="2743200" cy="250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4" name="Google Shape;164;p20"/>
          <p:cNvSpPr/>
          <p:nvPr/>
        </p:nvSpPr>
        <p:spPr>
          <a:xfrm>
            <a:off x="4123800" y="165525"/>
            <a:ext cx="3577200" cy="622200"/>
          </a:xfrm>
          <a:prstGeom prst="snip2DiagRect">
            <a:avLst>
              <a:gd fmla="val 0" name="adj1"/>
              <a:gd fmla="val 0" name="adj2"/>
            </a:avLst>
          </a:prstGeom>
          <a:solidFill>
            <a:srgbClr val="233039"/>
          </a:solid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b="1" lang="en-US" sz="2400">
                <a:solidFill>
                  <a:srgbClr val="D7AC54"/>
                </a:solidFill>
                <a:latin typeface="Cantarell"/>
                <a:ea typeface="Cantarell"/>
                <a:cs typeface="Cantarell"/>
                <a:sym typeface="Cantarell"/>
              </a:rPr>
              <a:t>System Architecture</a:t>
            </a:r>
            <a:endParaRPr sz="2400">
              <a:solidFill>
                <a:srgbClr val="D7AC54"/>
              </a:solidFill>
              <a:latin typeface="Cantarell"/>
              <a:ea typeface="Cantarell"/>
              <a:cs typeface="Cantarell"/>
              <a:sym typeface="Cantarell"/>
            </a:endParaRPr>
          </a:p>
        </p:txBody>
      </p:sp>
      <p:sp>
        <p:nvSpPr>
          <p:cNvPr id="165" name="Google Shape;165;p20"/>
          <p:cNvSpPr txBox="1"/>
          <p:nvPr/>
        </p:nvSpPr>
        <p:spPr>
          <a:xfrm>
            <a:off x="4903806" y="5929812"/>
            <a:ext cx="60978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t/>
            </a:r>
            <a:endParaRPr u="sng">
              <a:solidFill>
                <a:schemeClr val="accent1"/>
              </a:solidFill>
            </a:endParaRPr>
          </a:p>
        </p:txBody>
      </p:sp>
      <p:sp>
        <p:nvSpPr>
          <p:cNvPr id="166" name="Google Shape;166;p20"/>
          <p:cNvSpPr txBox="1"/>
          <p:nvPr/>
        </p:nvSpPr>
        <p:spPr>
          <a:xfrm>
            <a:off x="823188" y="964100"/>
            <a:ext cx="10178400" cy="530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900">
                <a:solidFill>
                  <a:schemeClr val="lt1"/>
                </a:solidFill>
                <a:latin typeface="Cantarell"/>
                <a:ea typeface="Cantarell"/>
                <a:cs typeface="Cantarell"/>
                <a:sym typeface="Cantarell"/>
              </a:rPr>
              <a:t>Flow:</a:t>
            </a:r>
            <a:endParaRPr b="1" sz="1900">
              <a:solidFill>
                <a:schemeClr val="lt1"/>
              </a:solidFill>
              <a:latin typeface="Cantarell"/>
              <a:ea typeface="Cantarell"/>
              <a:cs typeface="Cantarell"/>
              <a:sym typeface="Cantarell"/>
            </a:endParaRPr>
          </a:p>
          <a:p>
            <a:pPr indent="-323850" lvl="0" marL="457200" rtl="0" algn="l">
              <a:lnSpc>
                <a:spcPct val="115000"/>
              </a:lnSpc>
              <a:spcBef>
                <a:spcPts val="120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GitHub API → Azure Data Factory</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Data Lake Gen2 (Bronze) – raw storage</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Databricks (Silver) – Spark transformation</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Synapse Analytics (Gold) – analytical serving</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Power BI – dashboarding</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AutoNum type="arabicPeriod"/>
            </a:pPr>
            <a:r>
              <a:rPr b="1" lang="en-US" sz="1500">
                <a:solidFill>
                  <a:srgbClr val="D0A863"/>
                </a:solidFill>
                <a:latin typeface="Cantarell"/>
                <a:ea typeface="Cantarell"/>
                <a:cs typeface="Cantarell"/>
                <a:sym typeface="Cantarell"/>
              </a:rPr>
              <a:t>Key Principle: Modular, scalable, and automated data flow.</a:t>
            </a:r>
            <a:endParaRPr b="1" sz="1500">
              <a:solidFill>
                <a:srgbClr val="D0A863"/>
              </a:solidFill>
              <a:latin typeface="Cantarell"/>
              <a:ea typeface="Cantarell"/>
              <a:cs typeface="Cantarell"/>
              <a:sym typeface="Cantarell"/>
            </a:endParaRPr>
          </a:p>
          <a:p>
            <a:pPr indent="0" lvl="0" marL="457200" rtl="0" algn="l">
              <a:lnSpc>
                <a:spcPct val="115000"/>
              </a:lnSpc>
              <a:spcBef>
                <a:spcPts val="1200"/>
              </a:spcBef>
              <a:spcAft>
                <a:spcPts val="0"/>
              </a:spcAft>
              <a:buNone/>
            </a:pPr>
            <a:r>
              <a:t/>
            </a:r>
            <a:endParaRPr b="1" sz="1500">
              <a:solidFill>
                <a:srgbClr val="D0A863"/>
              </a:solidFill>
              <a:latin typeface="Cantarell"/>
              <a:ea typeface="Cantarell"/>
              <a:cs typeface="Cantarell"/>
              <a:sym typeface="Cantarell"/>
            </a:endParaRPr>
          </a:p>
          <a:p>
            <a:pPr indent="0" lvl="0" marL="0" rtl="0" algn="l">
              <a:lnSpc>
                <a:spcPct val="115000"/>
              </a:lnSpc>
              <a:spcBef>
                <a:spcPts val="1200"/>
              </a:spcBef>
              <a:spcAft>
                <a:spcPts val="0"/>
              </a:spcAft>
              <a:buNone/>
            </a:pPr>
            <a:r>
              <a:rPr b="1" lang="en-US" sz="1900">
                <a:solidFill>
                  <a:schemeClr val="lt1"/>
                </a:solidFill>
                <a:latin typeface="Cantarell"/>
                <a:ea typeface="Cantarell"/>
                <a:cs typeface="Cantarell"/>
                <a:sym typeface="Cantarell"/>
              </a:rPr>
              <a:t>Azure Resource Setup</a:t>
            </a:r>
            <a:endParaRPr b="1" sz="1900">
              <a:solidFill>
                <a:schemeClr val="lt1"/>
              </a:solidFill>
              <a:latin typeface="Cantarell"/>
              <a:ea typeface="Cantarell"/>
              <a:cs typeface="Cantarell"/>
              <a:sym typeface="Cantarell"/>
            </a:endParaRPr>
          </a:p>
          <a:p>
            <a:pPr indent="-323850" lvl="0" marL="457200" rtl="0" algn="l">
              <a:lnSpc>
                <a:spcPct val="115000"/>
              </a:lnSpc>
              <a:spcBef>
                <a:spcPts val="120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Resource Group: logical container for all services.</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ADLS Gen2: Hierarchical namespace with /bronze/, /silver/, /gold/, /parameters/.</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ADF: Orchestration with Author, Monitor, Manage, Learn workspaces.</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Linked Services: HTTP (GitHub) + ADLS connections.</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Databricks: Cluster for Spark processing.</a:t>
            </a:r>
            <a:endParaRPr b="1" sz="1500">
              <a:solidFill>
                <a:srgbClr val="D0A863"/>
              </a:solidFill>
              <a:latin typeface="Cantarell"/>
              <a:ea typeface="Cantarell"/>
              <a:cs typeface="Cantarell"/>
              <a:sym typeface="Cantarell"/>
            </a:endParaRPr>
          </a:p>
          <a:p>
            <a:pPr indent="-323850" lvl="0" marL="457200" rtl="0" algn="l">
              <a:lnSpc>
                <a:spcPct val="115000"/>
              </a:lnSpc>
              <a:spcBef>
                <a:spcPts val="0"/>
              </a:spcBef>
              <a:spcAft>
                <a:spcPts val="0"/>
              </a:spcAft>
              <a:buClr>
                <a:srgbClr val="D0A863"/>
              </a:buClr>
              <a:buSzPts val="1500"/>
              <a:buFont typeface="Cantarell"/>
              <a:buChar char="●"/>
            </a:pPr>
            <a:r>
              <a:rPr b="1" lang="en-US" sz="1500">
                <a:solidFill>
                  <a:srgbClr val="D0A863"/>
                </a:solidFill>
                <a:latin typeface="Cantarell"/>
                <a:ea typeface="Cantarell"/>
                <a:cs typeface="Cantarell"/>
                <a:sym typeface="Cantarell"/>
              </a:rPr>
              <a:t>Synapse + Power BI: For analytics and visualization.</a:t>
            </a:r>
            <a:endParaRPr b="1" sz="1100">
              <a:solidFill>
                <a:srgbClr val="D0A863"/>
              </a:solidFill>
              <a:highlight>
                <a:srgbClr val="233039"/>
              </a:highlight>
              <a:latin typeface="Cantarell"/>
              <a:ea typeface="Cantarell"/>
              <a:cs typeface="Cantarell"/>
              <a:sym typeface="Cantarell"/>
            </a:endParaRPr>
          </a:p>
          <a:p>
            <a:pPr indent="0" lvl="0" marL="0" rtl="0" algn="l">
              <a:lnSpc>
                <a:spcPct val="115000"/>
              </a:lnSpc>
              <a:spcBef>
                <a:spcPts val="1200"/>
              </a:spcBef>
              <a:spcAft>
                <a:spcPts val="1200"/>
              </a:spcAft>
              <a:buNone/>
            </a:pPr>
            <a:r>
              <a:t/>
            </a:r>
            <a:endParaRPr b="1" sz="1500">
              <a:solidFill>
                <a:srgbClr val="D7AC54"/>
              </a:solidFill>
              <a:latin typeface="Cantarell"/>
              <a:ea typeface="Cantarell"/>
              <a:cs typeface="Cantarell"/>
              <a:sym typeface="Cantare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type="title"/>
          </p:nvPr>
        </p:nvSpPr>
        <p:spPr>
          <a:xfrm>
            <a:off x="838200" y="365125"/>
            <a:ext cx="88582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0A863"/>
              </a:buClr>
              <a:buSzPts val="4400"/>
              <a:buFont typeface="Cantarell"/>
              <a:buNone/>
            </a:pPr>
            <a:r>
              <a:rPr lang="en-US"/>
              <a:t>Overview </a:t>
            </a:r>
            <a:endParaRPr/>
          </a:p>
        </p:txBody>
      </p:sp>
      <p:sp>
        <p:nvSpPr>
          <p:cNvPr id="172" name="Google Shape;172;p21"/>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73" name="Google Shape;173;p21"/>
          <p:cNvPicPr preferRelativeResize="0"/>
          <p:nvPr/>
        </p:nvPicPr>
        <p:blipFill>
          <a:blip r:embed="rId3">
            <a:alphaModFix/>
          </a:blip>
          <a:stretch>
            <a:fillRect/>
          </a:stretch>
        </p:blipFill>
        <p:spPr>
          <a:xfrm>
            <a:off x="1238100" y="1387325"/>
            <a:ext cx="9287626" cy="47994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8858400" cy="81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Key Learnings</a:t>
            </a:r>
            <a:endParaRPr/>
          </a:p>
        </p:txBody>
      </p:sp>
      <p:sp>
        <p:nvSpPr>
          <p:cNvPr id="180" name="Google Shape;180;p22"/>
          <p:cNvSpPr txBox="1"/>
          <p:nvPr>
            <p:ph idx="1" type="body"/>
          </p:nvPr>
        </p:nvSpPr>
        <p:spPr>
          <a:xfrm>
            <a:off x="838200" y="1243675"/>
            <a:ext cx="10515600" cy="48078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1900">
                <a:solidFill>
                  <a:schemeClr val="lt1"/>
                </a:solidFill>
              </a:rPr>
              <a:t>1. </a:t>
            </a:r>
            <a:r>
              <a:rPr b="1" lang="en-US" sz="1900">
                <a:solidFill>
                  <a:schemeClr val="lt1"/>
                </a:solidFill>
              </a:rPr>
              <a:t>Dynamic &amp; Metadata-Driven Pipelines:</a:t>
            </a:r>
            <a:br>
              <a:rPr b="1" lang="en-US" sz="1500">
                <a:solidFill>
                  <a:schemeClr val="lt1"/>
                </a:solidFill>
              </a:rPr>
            </a:br>
            <a:r>
              <a:rPr lang="en-US" sz="1500">
                <a:solidFill>
                  <a:srgbClr val="D0A863"/>
                </a:solidFill>
              </a:rPr>
              <a:t>Using JSON-driven parameterization in Azure Data Factory enabled dynamic ingestion of multiple datasets, improving scalability and reducing maintenance effort.</a:t>
            </a:r>
            <a:endParaRPr sz="1500">
              <a:solidFill>
                <a:schemeClr val="dk1"/>
              </a:solidFill>
            </a:endParaRPr>
          </a:p>
          <a:p>
            <a:pPr indent="0" lvl="0" marL="0" rtl="0" algn="l">
              <a:spcBef>
                <a:spcPts val="1000"/>
              </a:spcBef>
              <a:spcAft>
                <a:spcPts val="0"/>
              </a:spcAft>
              <a:buClr>
                <a:schemeClr val="dk1"/>
              </a:buClr>
              <a:buSzPts val="1100"/>
              <a:buFont typeface="Arial"/>
              <a:buNone/>
            </a:pPr>
            <a:r>
              <a:rPr b="1" lang="en-US" sz="1900">
                <a:solidFill>
                  <a:schemeClr val="lt1"/>
                </a:solidFill>
              </a:rPr>
              <a:t>2.Medallion Architecture:</a:t>
            </a:r>
            <a:br>
              <a:rPr lang="en-US" sz="1500">
                <a:solidFill>
                  <a:schemeClr val="dk1"/>
                </a:solidFill>
              </a:rPr>
            </a:br>
            <a:r>
              <a:rPr lang="en-US" sz="1500">
                <a:solidFill>
                  <a:srgbClr val="D7AC54"/>
                </a:solidFill>
              </a:rPr>
              <a:t>Clear separation of Bronze (raw), Silver (curated), and Gold (analytical) layers ensured data lineage, modularity, and simplified debugging.</a:t>
            </a:r>
            <a:endParaRPr sz="1500">
              <a:solidFill>
                <a:schemeClr val="dk1"/>
              </a:solidFill>
            </a:endParaRPr>
          </a:p>
          <a:p>
            <a:pPr indent="0" lvl="0" marL="0" rtl="0" algn="l">
              <a:spcBef>
                <a:spcPts val="1000"/>
              </a:spcBef>
              <a:spcAft>
                <a:spcPts val="0"/>
              </a:spcAft>
              <a:buClr>
                <a:schemeClr val="dk1"/>
              </a:buClr>
              <a:buSzPts val="1100"/>
              <a:buFont typeface="Arial"/>
              <a:buNone/>
            </a:pPr>
            <a:r>
              <a:rPr b="1" lang="en-US" sz="1900">
                <a:solidFill>
                  <a:schemeClr val="lt1"/>
                </a:solidFill>
              </a:rPr>
              <a:t>3.Data Quality &amp; Transformation:</a:t>
            </a:r>
            <a:br>
              <a:rPr lang="en-US" sz="1500">
                <a:solidFill>
                  <a:schemeClr val="dk1"/>
                </a:solidFill>
              </a:rPr>
            </a:br>
            <a:r>
              <a:rPr lang="en-US" sz="1500">
                <a:solidFill>
                  <a:srgbClr val="D7AC54"/>
                </a:solidFill>
              </a:rPr>
              <a:t>Implemented schema validation, deduplication, and standardization in Databricks using Spark — achieving reliable, analytics-ready datasets.</a:t>
            </a:r>
            <a:endParaRPr sz="1500">
              <a:solidFill>
                <a:srgbClr val="D7AC54"/>
              </a:solidFill>
            </a:endParaRPr>
          </a:p>
          <a:p>
            <a:pPr indent="0" lvl="0" marL="0" rtl="0" algn="l">
              <a:spcBef>
                <a:spcPts val="1000"/>
              </a:spcBef>
              <a:spcAft>
                <a:spcPts val="0"/>
              </a:spcAft>
              <a:buClr>
                <a:schemeClr val="dk1"/>
              </a:buClr>
              <a:buSzPts val="1100"/>
              <a:buFont typeface="Arial"/>
              <a:buNone/>
            </a:pPr>
            <a:r>
              <a:rPr b="1" lang="en-US" sz="1900">
                <a:solidFill>
                  <a:schemeClr val="lt1"/>
                </a:solidFill>
              </a:rPr>
              <a:t>4.Performance Optimization:</a:t>
            </a:r>
            <a:br>
              <a:rPr lang="en-US" sz="1500">
                <a:solidFill>
                  <a:schemeClr val="dk1"/>
                </a:solidFill>
              </a:rPr>
            </a:br>
            <a:r>
              <a:rPr lang="en-US" sz="1500">
                <a:solidFill>
                  <a:srgbClr val="D7AC54"/>
                </a:solidFill>
              </a:rPr>
              <a:t>Leveraged parallel ForEach execution, Parquet compression, and Serverless Synapse SQL for faster queries and reduced costs.</a:t>
            </a:r>
            <a:endParaRPr sz="1500">
              <a:solidFill>
                <a:srgbClr val="D7AC54"/>
              </a:solidFill>
            </a:endParaRPr>
          </a:p>
          <a:p>
            <a:pPr indent="0" lvl="0" marL="0" rtl="0" algn="l">
              <a:spcBef>
                <a:spcPts val="1000"/>
              </a:spcBef>
              <a:spcAft>
                <a:spcPts val="0"/>
              </a:spcAft>
              <a:buClr>
                <a:schemeClr val="dk1"/>
              </a:buClr>
              <a:buSzPts val="1100"/>
              <a:buFont typeface="Arial"/>
              <a:buNone/>
            </a:pPr>
            <a:r>
              <a:rPr b="1" lang="en-US" sz="1900">
                <a:solidFill>
                  <a:schemeClr val="lt1"/>
                </a:solidFill>
              </a:rPr>
              <a:t>5.Security &amp; Governance:</a:t>
            </a:r>
            <a:br>
              <a:rPr lang="en-US" sz="1500">
                <a:solidFill>
                  <a:schemeClr val="dk1"/>
                </a:solidFill>
              </a:rPr>
            </a:br>
            <a:r>
              <a:rPr lang="en-US" sz="1500">
                <a:solidFill>
                  <a:srgbClr val="D7AC54"/>
                </a:solidFill>
              </a:rPr>
              <a:t>Enforced RBAC, Managed Identities, and secure access controls across all Azure components for enterprise-grade protection.</a:t>
            </a:r>
            <a:endParaRPr sz="1500">
              <a:solidFill>
                <a:schemeClr val="dk1"/>
              </a:solidFill>
            </a:endParaRPr>
          </a:p>
          <a:p>
            <a:pPr indent="0" lvl="0" marL="0" rtl="0" algn="l">
              <a:spcBef>
                <a:spcPts val="1000"/>
              </a:spcBef>
              <a:spcAft>
                <a:spcPts val="0"/>
              </a:spcAft>
              <a:buClr>
                <a:schemeClr val="dk1"/>
              </a:buClr>
              <a:buSzPts val="1100"/>
              <a:buFont typeface="Arial"/>
              <a:buNone/>
            </a:pPr>
            <a:r>
              <a:rPr b="1" lang="en-US" sz="1900">
                <a:solidFill>
                  <a:schemeClr val="lt1"/>
                </a:solidFill>
              </a:rPr>
              <a:t>6.Integration &amp; Automation:</a:t>
            </a:r>
            <a:br>
              <a:rPr lang="en-US" sz="1500">
                <a:solidFill>
                  <a:schemeClr val="dk1"/>
                </a:solidFill>
              </a:rPr>
            </a:br>
            <a:r>
              <a:rPr lang="en-US" sz="1500">
                <a:solidFill>
                  <a:srgbClr val="D7AC54"/>
                </a:solidFill>
              </a:rPr>
              <a:t>Unified ADF, Databricks, Synapse, and Power BI into a seamless pipeline, automating end-to-end data flow from ingestion to visualization.</a:t>
            </a:r>
            <a:endParaRPr sz="1500"/>
          </a:p>
        </p:txBody>
      </p:sp>
      <p:sp>
        <p:nvSpPr>
          <p:cNvPr id="181" name="Google Shape;181;p22"/>
          <p:cNvSpPr txBox="1"/>
          <p:nvPr>
            <p:ph idx="12" type="sldNum"/>
          </p:nvPr>
        </p:nvSpPr>
        <p:spPr>
          <a:xfrm>
            <a:off x="8610600" y="6471138"/>
            <a:ext cx="2743200" cy="250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4624050" y="352600"/>
            <a:ext cx="2943900" cy="806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2400"/>
              <a:t>Layers Overview</a:t>
            </a:r>
            <a:endParaRPr sz="2400"/>
          </a:p>
        </p:txBody>
      </p:sp>
      <p:sp>
        <p:nvSpPr>
          <p:cNvPr id="188" name="Google Shape;188;p23"/>
          <p:cNvSpPr txBox="1"/>
          <p:nvPr>
            <p:ph idx="1" type="body"/>
          </p:nvPr>
        </p:nvSpPr>
        <p:spPr>
          <a:xfrm>
            <a:off x="6096000" y="1432713"/>
            <a:ext cx="5257800" cy="121800"/>
          </a:xfrm>
          <a:prstGeom prst="rect">
            <a:avLst/>
          </a:prstGeom>
        </p:spPr>
        <p:txBody>
          <a:bodyPr anchorCtr="0" anchor="t" bIns="45700" lIns="91425" spcFirstLastPara="1" rIns="91425" wrap="square" tIns="45700">
            <a:normAutofit fontScale="25000" lnSpcReduction="20000"/>
          </a:bodyPr>
          <a:lstStyle/>
          <a:p>
            <a:pPr indent="0" lvl="0" marL="0" rtl="0" algn="l">
              <a:spcBef>
                <a:spcPts val="1000"/>
              </a:spcBef>
              <a:spcAft>
                <a:spcPts val="0"/>
              </a:spcAft>
              <a:buNone/>
            </a:pPr>
            <a:r>
              <a:rPr lang="en-US">
                <a:solidFill>
                  <a:srgbClr val="233039"/>
                </a:solidFill>
              </a:rPr>
              <a:t>.</a:t>
            </a:r>
            <a:endParaRPr>
              <a:solidFill>
                <a:srgbClr val="233039"/>
              </a:solidFill>
            </a:endParaRPr>
          </a:p>
        </p:txBody>
      </p:sp>
      <p:sp>
        <p:nvSpPr>
          <p:cNvPr id="189" name="Google Shape;189;p23"/>
          <p:cNvSpPr txBox="1"/>
          <p:nvPr>
            <p:ph idx="12" type="sldNum"/>
          </p:nvPr>
        </p:nvSpPr>
        <p:spPr>
          <a:xfrm>
            <a:off x="8610600" y="6471138"/>
            <a:ext cx="2743200" cy="250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graphicFrame>
        <p:nvGraphicFramePr>
          <p:cNvPr id="190" name="Google Shape;190;p23"/>
          <p:cNvGraphicFramePr/>
          <p:nvPr/>
        </p:nvGraphicFramePr>
        <p:xfrm>
          <a:off x="1303525" y="1343050"/>
          <a:ext cx="3000000" cy="3000000"/>
        </p:xfrm>
        <a:graphic>
          <a:graphicData uri="http://schemas.openxmlformats.org/drawingml/2006/table">
            <a:tbl>
              <a:tblPr>
                <a:noFill/>
                <a:tableStyleId>{D4E2A73F-DEBB-47DE-AA2F-44A61620BCD5}</a:tableStyleId>
              </a:tblPr>
              <a:tblGrid>
                <a:gridCol w="3194975"/>
                <a:gridCol w="3194975"/>
                <a:gridCol w="3194975"/>
              </a:tblGrid>
              <a:tr h="145450">
                <a:tc>
                  <a:txBody>
                    <a:bodyPr/>
                    <a:lstStyle/>
                    <a:p>
                      <a:pPr indent="0" lvl="0" marL="0" rtl="0" algn="ctr">
                        <a:spcBef>
                          <a:spcPts val="0"/>
                        </a:spcBef>
                        <a:spcAft>
                          <a:spcPts val="0"/>
                        </a:spcAft>
                        <a:buNone/>
                      </a:pPr>
                      <a:r>
                        <a:rPr b="1" lang="en-US" sz="1600">
                          <a:solidFill>
                            <a:schemeClr val="lt1"/>
                          </a:solidFill>
                        </a:rPr>
                        <a:t>Layer</a:t>
                      </a:r>
                      <a:endParaRPr b="1" sz="1600">
                        <a:solidFill>
                          <a:schemeClr val="lt1"/>
                        </a:solidFill>
                      </a:endParaRPr>
                    </a:p>
                  </a:txBody>
                  <a:tcPr marT="91425" marB="91425" marR="91425" marL="91425"/>
                </a:tc>
                <a:tc>
                  <a:txBody>
                    <a:bodyPr/>
                    <a:lstStyle/>
                    <a:p>
                      <a:pPr indent="0" lvl="0" marL="0" rtl="0" algn="ctr">
                        <a:spcBef>
                          <a:spcPts val="0"/>
                        </a:spcBef>
                        <a:spcAft>
                          <a:spcPts val="0"/>
                        </a:spcAft>
                        <a:buNone/>
                      </a:pPr>
                      <a:r>
                        <a:rPr b="1" lang="en-US" sz="1600">
                          <a:solidFill>
                            <a:schemeClr val="lt1"/>
                          </a:solidFill>
                        </a:rPr>
                        <a:t>Goal</a:t>
                      </a:r>
                      <a:endParaRPr b="1" sz="1600">
                        <a:solidFill>
                          <a:schemeClr val="lt1"/>
                        </a:solidFill>
                      </a:endParaRPr>
                    </a:p>
                  </a:txBody>
                  <a:tcPr marT="91425" marB="91425" marR="91425" marL="91425"/>
                </a:tc>
                <a:tc>
                  <a:txBody>
                    <a:bodyPr/>
                    <a:lstStyle/>
                    <a:p>
                      <a:pPr indent="0" lvl="0" marL="0" rtl="0" algn="ctr">
                        <a:spcBef>
                          <a:spcPts val="0"/>
                        </a:spcBef>
                        <a:spcAft>
                          <a:spcPts val="0"/>
                        </a:spcAft>
                        <a:buNone/>
                      </a:pPr>
                      <a:r>
                        <a:rPr b="1" lang="en-US" sz="1600">
                          <a:solidFill>
                            <a:schemeClr val="lt1"/>
                          </a:solidFill>
                        </a:rPr>
                        <a:t>Features/ work done</a:t>
                      </a:r>
                      <a:endParaRPr b="1" sz="1600">
                        <a:solidFill>
                          <a:schemeClr val="lt1"/>
                        </a:solidFill>
                      </a:endParaRPr>
                    </a:p>
                  </a:txBody>
                  <a:tcPr marT="91425" marB="91425" marR="91425" marL="91425"/>
                </a:tc>
              </a:tr>
              <a:tr h="1304850">
                <a:tc>
                  <a:txBody>
                    <a:bodyPr/>
                    <a:lstStyle/>
                    <a:p>
                      <a:pPr indent="0" lvl="0" marL="0" rtl="0" algn="l">
                        <a:spcBef>
                          <a:spcPts val="0"/>
                        </a:spcBef>
                        <a:spcAft>
                          <a:spcPts val="0"/>
                        </a:spcAft>
                        <a:buNone/>
                      </a:pPr>
                      <a:r>
                        <a:rPr b="1" lang="en-US">
                          <a:solidFill>
                            <a:srgbClr val="D0A863"/>
                          </a:solidFill>
                        </a:rPr>
                        <a:t> Bronze Layer – Data Ingestion</a:t>
                      </a:r>
                      <a:endParaRPr b="1">
                        <a:solidFill>
                          <a:srgbClr val="D0A863"/>
                        </a:solidFill>
                      </a:endParaRPr>
                    </a:p>
                  </a:txBody>
                  <a:tcPr marT="91425" marB="91425" marR="91425" marL="91425"/>
                </a:tc>
                <a:tc>
                  <a:txBody>
                    <a:bodyPr/>
                    <a:lstStyle/>
                    <a:p>
                      <a:pPr indent="0" lvl="0" marL="0" rtl="0" algn="l">
                        <a:spcBef>
                          <a:spcPts val="0"/>
                        </a:spcBef>
                        <a:spcAft>
                          <a:spcPts val="0"/>
                        </a:spcAft>
                        <a:buNone/>
                      </a:pPr>
                      <a:r>
                        <a:rPr lang="en-US">
                          <a:solidFill>
                            <a:srgbClr val="D0A863"/>
                          </a:solidFill>
                        </a:rPr>
                        <a:t>Store raw GitHub CSVs in ADLS without modification.</a:t>
                      </a:r>
                      <a:endParaRPr>
                        <a:solidFill>
                          <a:srgbClr val="D0A863"/>
                        </a:solidFill>
                      </a:endParaRPr>
                    </a:p>
                  </a:txBody>
                  <a:tcPr marT="91425" marB="91425" marR="91425" marL="91425"/>
                </a:tc>
                <a:tc>
                  <a:txBody>
                    <a:bodyPr/>
                    <a:lstStyle/>
                    <a:p>
                      <a:pPr indent="-298450" lvl="0" marL="457200" rtl="0" algn="l">
                        <a:lnSpc>
                          <a:spcPct val="115000"/>
                        </a:lnSpc>
                        <a:spcBef>
                          <a:spcPts val="1200"/>
                        </a:spcBef>
                        <a:spcAft>
                          <a:spcPts val="0"/>
                        </a:spcAft>
                        <a:buClr>
                          <a:srgbClr val="D7AC54"/>
                        </a:buClr>
                        <a:buSzPts val="1100"/>
                        <a:buChar char="●"/>
                      </a:pPr>
                      <a:r>
                        <a:rPr lang="en-US" sz="1100">
                          <a:solidFill>
                            <a:srgbClr val="D7AC54"/>
                          </a:solidFill>
                        </a:rPr>
                        <a:t>Built using ForEach + JSON configuration</a:t>
                      </a:r>
                      <a:endParaRPr sz="1100">
                        <a:solidFill>
                          <a:srgbClr val="D7AC54"/>
                        </a:solidFill>
                      </a:endParaRPr>
                    </a:p>
                    <a:p>
                      <a:pPr indent="-298450" lvl="0" marL="457200" rtl="0" algn="l">
                        <a:lnSpc>
                          <a:spcPct val="115000"/>
                        </a:lnSpc>
                        <a:spcBef>
                          <a:spcPts val="0"/>
                        </a:spcBef>
                        <a:spcAft>
                          <a:spcPts val="0"/>
                        </a:spcAft>
                        <a:buClr>
                          <a:srgbClr val="D7AC54"/>
                        </a:buClr>
                        <a:buSzPts val="1100"/>
                        <a:buChar char="●"/>
                      </a:pPr>
                      <a:r>
                        <a:rPr lang="en-US" sz="1100">
                          <a:solidFill>
                            <a:srgbClr val="D7AC54"/>
                          </a:solidFill>
                        </a:rPr>
                        <a:t>JSON file Source paths, file names, and target destinations</a:t>
                      </a:r>
                      <a:endParaRPr sz="1100">
                        <a:solidFill>
                          <a:srgbClr val="D7AC54"/>
                        </a:solidFill>
                      </a:endParaRPr>
                    </a:p>
                    <a:p>
                      <a:pPr indent="-298450" lvl="0" marL="457200" rtl="0" algn="l">
                        <a:lnSpc>
                          <a:spcPct val="115000"/>
                        </a:lnSpc>
                        <a:spcBef>
                          <a:spcPts val="0"/>
                        </a:spcBef>
                        <a:spcAft>
                          <a:spcPts val="0"/>
                        </a:spcAft>
                        <a:buClr>
                          <a:srgbClr val="D7AC54"/>
                        </a:buClr>
                        <a:buSzPts val="1100"/>
                        <a:buChar char="●"/>
                      </a:pPr>
                      <a:r>
                        <a:rPr lang="en-US" sz="1100">
                          <a:solidFill>
                            <a:srgbClr val="D7AC54"/>
                          </a:solidFill>
                        </a:rPr>
                        <a:t>Pipeline automatically copies 10 AdventureWorks dataset</a:t>
                      </a:r>
                      <a:r>
                        <a:rPr lang="en-US" sz="1100">
                          <a:solidFill>
                            <a:srgbClr val="D7AC54"/>
                          </a:solidFill>
                        </a:rPr>
                        <a:t>s</a:t>
                      </a:r>
                      <a:endParaRPr sz="1100">
                        <a:solidFill>
                          <a:srgbClr val="D7AC54"/>
                        </a:solidFill>
                      </a:endParaRPr>
                    </a:p>
                  </a:txBody>
                  <a:tcPr marT="91425" marB="91425" marR="91425" marL="91425"/>
                </a:tc>
              </a:tr>
              <a:tr h="1540450">
                <a:tc>
                  <a:txBody>
                    <a:bodyPr/>
                    <a:lstStyle/>
                    <a:p>
                      <a:pPr indent="0" lvl="0" marL="0" rtl="0" algn="l">
                        <a:spcBef>
                          <a:spcPts val="0"/>
                        </a:spcBef>
                        <a:spcAft>
                          <a:spcPts val="0"/>
                        </a:spcAft>
                        <a:buNone/>
                      </a:pPr>
                      <a:r>
                        <a:rPr b="1" lang="en-US">
                          <a:solidFill>
                            <a:srgbClr val="D0A863"/>
                          </a:solidFill>
                        </a:rPr>
                        <a:t>Silver Layer – Transformation with Databricks</a:t>
                      </a:r>
                      <a:endParaRPr b="1">
                        <a:solidFill>
                          <a:srgbClr val="D0A863"/>
                        </a:solidFill>
                      </a:endParaRPr>
                    </a:p>
                  </a:txBody>
                  <a:tcPr marT="91425" marB="91425" marR="91425" marL="91425"/>
                </a:tc>
                <a:tc>
                  <a:txBody>
                    <a:bodyPr/>
                    <a:lstStyle/>
                    <a:p>
                      <a:pPr indent="0" lvl="0" marL="0" rtl="0" algn="l">
                        <a:spcBef>
                          <a:spcPts val="0"/>
                        </a:spcBef>
                        <a:spcAft>
                          <a:spcPts val="0"/>
                        </a:spcAft>
                        <a:buNone/>
                      </a:pPr>
                      <a:r>
                        <a:rPr lang="en-US">
                          <a:solidFill>
                            <a:srgbClr val="D0A863"/>
                          </a:solidFill>
                        </a:rPr>
                        <a:t>Clean, standardize, and join data using Apache Spark.</a:t>
                      </a:r>
                      <a:endParaRPr>
                        <a:solidFill>
                          <a:srgbClr val="D0A863"/>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00">
                          <a:solidFill>
                            <a:srgbClr val="D0A863"/>
                          </a:solidFill>
                        </a:rPr>
                        <a:t>Read raw files from /bronze/.</a:t>
                      </a:r>
                      <a:endParaRPr sz="1100">
                        <a:solidFill>
                          <a:srgbClr val="D0A863"/>
                        </a:solidFill>
                      </a:endParaRPr>
                    </a:p>
                    <a:p>
                      <a:pPr indent="0" lvl="0" marL="0" rtl="0" algn="l">
                        <a:spcBef>
                          <a:spcPts val="0"/>
                        </a:spcBef>
                        <a:spcAft>
                          <a:spcPts val="0"/>
                        </a:spcAft>
                        <a:buClr>
                          <a:schemeClr val="dk1"/>
                        </a:buClr>
                        <a:buSzPts val="1100"/>
                        <a:buFont typeface="Arial"/>
                        <a:buNone/>
                      </a:pPr>
                      <a:r>
                        <a:rPr lang="en-US" sz="1100">
                          <a:solidFill>
                            <a:srgbClr val="D0A863"/>
                          </a:solidFill>
                        </a:rPr>
                        <a:t>Apply:</a:t>
                      </a:r>
                      <a:endParaRPr sz="1100">
                        <a:solidFill>
                          <a:srgbClr val="D0A863"/>
                        </a:solidFill>
                      </a:endParaRPr>
                    </a:p>
                    <a:p>
                      <a:pPr indent="-298450" lvl="0" marL="457200" rtl="0" algn="l">
                        <a:lnSpc>
                          <a:spcPct val="115000"/>
                        </a:lnSpc>
                        <a:spcBef>
                          <a:spcPts val="1200"/>
                        </a:spcBef>
                        <a:spcAft>
                          <a:spcPts val="0"/>
                        </a:spcAft>
                        <a:buClr>
                          <a:srgbClr val="D0A863"/>
                        </a:buClr>
                        <a:buSzPts val="1100"/>
                        <a:buChar char="●"/>
                      </a:pPr>
                      <a:r>
                        <a:rPr lang="en-US" sz="1100">
                          <a:solidFill>
                            <a:srgbClr val="D0A863"/>
                          </a:solidFill>
                        </a:rPr>
                        <a:t>Schema enforcement</a:t>
                      </a:r>
                      <a:endParaRPr sz="1100">
                        <a:solidFill>
                          <a:srgbClr val="D0A863"/>
                        </a:solidFill>
                      </a:endParaRPr>
                    </a:p>
                    <a:p>
                      <a:pPr indent="-298450" lvl="0" marL="457200" rtl="0" algn="l">
                        <a:lnSpc>
                          <a:spcPct val="115000"/>
                        </a:lnSpc>
                        <a:spcBef>
                          <a:spcPts val="0"/>
                        </a:spcBef>
                        <a:spcAft>
                          <a:spcPts val="0"/>
                        </a:spcAft>
                        <a:buClr>
                          <a:srgbClr val="D0A863"/>
                        </a:buClr>
                        <a:buSzPts val="1100"/>
                        <a:buChar char="●"/>
                      </a:pPr>
                      <a:r>
                        <a:rPr lang="en-US" sz="1100">
                          <a:solidFill>
                            <a:srgbClr val="D0A863"/>
                          </a:solidFill>
                        </a:rPr>
                        <a:t>Null &amp; duplicate removal</a:t>
                      </a:r>
                      <a:endParaRPr sz="1100">
                        <a:solidFill>
                          <a:srgbClr val="D0A863"/>
                        </a:solidFill>
                      </a:endParaRPr>
                    </a:p>
                    <a:p>
                      <a:pPr indent="-298450" lvl="0" marL="457200" rtl="0" algn="l">
                        <a:lnSpc>
                          <a:spcPct val="115000"/>
                        </a:lnSpc>
                        <a:spcBef>
                          <a:spcPts val="0"/>
                        </a:spcBef>
                        <a:spcAft>
                          <a:spcPts val="0"/>
                        </a:spcAft>
                        <a:buClr>
                          <a:srgbClr val="D0A863"/>
                        </a:buClr>
                        <a:buSzPts val="1100"/>
                        <a:buChar char="●"/>
                      </a:pPr>
                      <a:r>
                        <a:rPr lang="en-US" sz="1100">
                          <a:solidFill>
                            <a:srgbClr val="D0A863"/>
                          </a:solidFill>
                        </a:rPr>
                        <a:t>Date normalization</a:t>
                      </a:r>
                      <a:endParaRPr sz="1100">
                        <a:solidFill>
                          <a:srgbClr val="D0A863"/>
                        </a:solidFill>
                      </a:endParaRPr>
                    </a:p>
                    <a:p>
                      <a:pPr indent="-298450" lvl="0" marL="457200" rtl="0" algn="l">
                        <a:lnSpc>
                          <a:spcPct val="115000"/>
                        </a:lnSpc>
                        <a:spcBef>
                          <a:spcPts val="0"/>
                        </a:spcBef>
                        <a:spcAft>
                          <a:spcPts val="0"/>
                        </a:spcAft>
                        <a:buClr>
                          <a:srgbClr val="D0A863"/>
                        </a:buClr>
                        <a:buSzPts val="1100"/>
                        <a:buChar char="●"/>
                      </a:pPr>
                      <a:r>
                        <a:rPr lang="en-US" sz="1100">
                          <a:solidFill>
                            <a:srgbClr val="D0A863"/>
                          </a:solidFill>
                        </a:rPr>
                        <a:t>Joins (Sales + Products + Customers + Territories)</a:t>
                      </a:r>
                      <a:endParaRPr>
                        <a:solidFill>
                          <a:srgbClr val="D0A863"/>
                        </a:solidFill>
                      </a:endParaRPr>
                    </a:p>
                  </a:txBody>
                  <a:tcPr marT="91425" marB="91425" marR="91425" marL="91425"/>
                </a:tc>
              </a:tr>
              <a:tr h="1270875">
                <a:tc>
                  <a:txBody>
                    <a:bodyPr/>
                    <a:lstStyle/>
                    <a:p>
                      <a:pPr indent="0" lvl="0" marL="0" rtl="0" algn="l">
                        <a:spcBef>
                          <a:spcPts val="0"/>
                        </a:spcBef>
                        <a:spcAft>
                          <a:spcPts val="0"/>
                        </a:spcAft>
                        <a:buNone/>
                      </a:pPr>
                      <a:r>
                        <a:rPr b="1" lang="en-US">
                          <a:solidFill>
                            <a:srgbClr val="D0A863"/>
                          </a:solidFill>
                        </a:rPr>
                        <a:t>Gold Layer – Analytical Serving</a:t>
                      </a:r>
                      <a:endParaRPr b="1">
                        <a:solidFill>
                          <a:srgbClr val="D0A863"/>
                        </a:solidFill>
                      </a:endParaRPr>
                    </a:p>
                  </a:txBody>
                  <a:tcPr marT="91425" marB="91425" marR="91425" marL="91425"/>
                </a:tc>
                <a:tc>
                  <a:txBody>
                    <a:bodyPr/>
                    <a:lstStyle/>
                    <a:p>
                      <a:pPr indent="0" lvl="0" marL="0" rtl="0" algn="l">
                        <a:lnSpc>
                          <a:spcPct val="115000"/>
                        </a:lnSpc>
                        <a:spcBef>
                          <a:spcPts val="1200"/>
                        </a:spcBef>
                        <a:spcAft>
                          <a:spcPts val="1200"/>
                        </a:spcAft>
                        <a:buNone/>
                      </a:pPr>
                      <a:r>
                        <a:rPr lang="en-US">
                          <a:solidFill>
                            <a:srgbClr val="D0A863"/>
                          </a:solidFill>
                        </a:rPr>
                        <a:t>Make data available for BI and analytics.</a:t>
                      </a:r>
                      <a:endParaRPr>
                        <a:solidFill>
                          <a:srgbClr val="D0A863"/>
                        </a:solidFill>
                      </a:endParaRPr>
                    </a:p>
                  </a:txBody>
                  <a:tcPr marT="91425" marB="91425" marR="91425" marL="91425"/>
                </a:tc>
                <a:tc>
                  <a:txBody>
                    <a:bodyPr/>
                    <a:lstStyle/>
                    <a:p>
                      <a:pPr indent="-298450" lvl="0" marL="457200" rtl="0" algn="l">
                        <a:spcBef>
                          <a:spcPts val="0"/>
                        </a:spcBef>
                        <a:spcAft>
                          <a:spcPts val="0"/>
                        </a:spcAft>
                        <a:buClr>
                          <a:srgbClr val="D0A863"/>
                        </a:buClr>
                        <a:buSzPts val="1100"/>
                        <a:buChar char="●"/>
                      </a:pPr>
                      <a:r>
                        <a:rPr lang="en-US" sz="1100">
                          <a:solidFill>
                            <a:srgbClr val="D0A863"/>
                          </a:solidFill>
                        </a:rPr>
                        <a:t>Synapse Serverless SQL views over Silver Parquet files.</a:t>
                      </a:r>
                      <a:endParaRPr sz="1100">
                        <a:solidFill>
                          <a:srgbClr val="D0A863"/>
                        </a:solidFill>
                      </a:endParaRPr>
                    </a:p>
                    <a:p>
                      <a:pPr indent="-298450" lvl="0" marL="457200" rtl="0" algn="l">
                        <a:spcBef>
                          <a:spcPts val="0"/>
                        </a:spcBef>
                        <a:spcAft>
                          <a:spcPts val="0"/>
                        </a:spcAft>
                        <a:buClr>
                          <a:srgbClr val="D0A863"/>
                        </a:buClr>
                        <a:buSzPts val="1100"/>
                        <a:buChar char="●"/>
                      </a:pPr>
                      <a:r>
                        <a:rPr lang="en-US" sz="1100">
                          <a:solidFill>
                            <a:srgbClr val="D0A863"/>
                          </a:solidFill>
                        </a:rPr>
                        <a:t>Created logical data warehouse via </a:t>
                      </a:r>
                      <a:r>
                        <a:rPr lang="en-US" sz="1100">
                          <a:solidFill>
                            <a:srgbClr val="D0A863"/>
                          </a:solidFill>
                          <a:latin typeface="Roboto Mono"/>
                          <a:ea typeface="Roboto Mono"/>
                          <a:cs typeface="Roboto Mono"/>
                          <a:sym typeface="Roboto Mono"/>
                        </a:rPr>
                        <a:t>OPENROWSET()</a:t>
                      </a:r>
                      <a:r>
                        <a:rPr lang="en-US" sz="1100">
                          <a:solidFill>
                            <a:srgbClr val="D0A863"/>
                          </a:solidFill>
                        </a:rPr>
                        <a:t>.</a:t>
                      </a:r>
                      <a:endParaRPr sz="1100">
                        <a:solidFill>
                          <a:srgbClr val="D0A863"/>
                        </a:solidFill>
                      </a:endParaRPr>
                    </a:p>
                    <a:p>
                      <a:pPr indent="-298450" lvl="0" marL="457200" rtl="0" algn="l">
                        <a:spcBef>
                          <a:spcPts val="0"/>
                        </a:spcBef>
                        <a:spcAft>
                          <a:spcPts val="0"/>
                        </a:spcAft>
                        <a:buClr>
                          <a:srgbClr val="D0A863"/>
                        </a:buClr>
                        <a:buSzPts val="1100"/>
                        <a:buChar char="●"/>
                      </a:pPr>
                      <a:r>
                        <a:rPr lang="en-US" sz="1100">
                          <a:solidFill>
                            <a:srgbClr val="D0A863"/>
                          </a:solidFill>
                        </a:rPr>
                        <a:t>Example Views: </a:t>
                      </a:r>
                      <a:r>
                        <a:rPr lang="en-US" sz="1100">
                          <a:solidFill>
                            <a:srgbClr val="D0A863"/>
                          </a:solidFill>
                          <a:latin typeface="Roboto Mono"/>
                          <a:ea typeface="Roboto Mono"/>
                          <a:cs typeface="Roboto Mono"/>
                          <a:sym typeface="Roboto Mono"/>
                        </a:rPr>
                        <a:t>gold.sales</a:t>
                      </a:r>
                      <a:r>
                        <a:rPr lang="en-US" sz="1100">
                          <a:solidFill>
                            <a:srgbClr val="D0A863"/>
                          </a:solidFill>
                        </a:rPr>
                        <a:t>, </a:t>
                      </a:r>
                      <a:r>
                        <a:rPr lang="en-US" sz="1100">
                          <a:solidFill>
                            <a:srgbClr val="D0A863"/>
                          </a:solidFill>
                          <a:latin typeface="Roboto Mono"/>
                          <a:ea typeface="Roboto Mono"/>
                          <a:cs typeface="Roboto Mono"/>
                          <a:sym typeface="Roboto Mono"/>
                        </a:rPr>
                        <a:t>gold.customers</a:t>
                      </a:r>
                      <a:r>
                        <a:rPr lang="en-US" sz="1100">
                          <a:solidFill>
                            <a:srgbClr val="D0A863"/>
                          </a:solidFill>
                        </a:rPr>
                        <a:t>, </a:t>
                      </a:r>
                      <a:r>
                        <a:rPr lang="en-US" sz="1100">
                          <a:solidFill>
                            <a:srgbClr val="D0A863"/>
                          </a:solidFill>
                          <a:latin typeface="Roboto Mono"/>
                          <a:ea typeface="Roboto Mono"/>
                          <a:cs typeface="Roboto Mono"/>
                          <a:sym typeface="Roboto Mono"/>
                        </a:rPr>
                        <a:t>gold.products</a:t>
                      </a:r>
                      <a:r>
                        <a:rPr lang="en-US" sz="1100">
                          <a:solidFill>
                            <a:srgbClr val="D0A863"/>
                          </a:solidFill>
                        </a:rPr>
                        <a:t>.</a:t>
                      </a:r>
                      <a:endParaRPr sz="1100">
                        <a:solidFill>
                          <a:srgbClr val="D0A863"/>
                        </a:solidFill>
                      </a:endParaRPr>
                    </a:p>
                    <a:p>
                      <a:pPr indent="-298450" lvl="0" marL="457200" rtl="0" algn="l">
                        <a:spcBef>
                          <a:spcPts val="0"/>
                        </a:spcBef>
                        <a:spcAft>
                          <a:spcPts val="0"/>
                        </a:spcAft>
                        <a:buClr>
                          <a:srgbClr val="D0A863"/>
                        </a:buClr>
                        <a:buSzPts val="1100"/>
                        <a:buChar char="●"/>
                      </a:pPr>
                      <a:r>
                        <a:rPr lang="en-US" sz="1100">
                          <a:solidFill>
                            <a:srgbClr val="D0A863"/>
                          </a:solidFill>
                        </a:rPr>
                        <a:t>Optional CTAS (CREATE TABLE AS SELECT) for performance-critical tables.</a:t>
                      </a:r>
                      <a:endParaRPr>
                        <a:solidFill>
                          <a:srgbClr val="D0A863"/>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838200" y="365125"/>
            <a:ext cx="8858400" cy="938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Final Dashboard</a:t>
            </a:r>
            <a:endParaRPr/>
          </a:p>
        </p:txBody>
      </p:sp>
      <p:sp>
        <p:nvSpPr>
          <p:cNvPr id="197" name="Google Shape;197;p24"/>
          <p:cNvSpPr txBox="1"/>
          <p:nvPr>
            <p:ph idx="12" type="sldNum"/>
          </p:nvPr>
        </p:nvSpPr>
        <p:spPr>
          <a:xfrm>
            <a:off x="8610600" y="6471138"/>
            <a:ext cx="2743200" cy="250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98" name="Google Shape;198;p24"/>
          <p:cNvPicPr preferRelativeResize="0"/>
          <p:nvPr/>
        </p:nvPicPr>
        <p:blipFill>
          <a:blip r:embed="rId3">
            <a:alphaModFix/>
          </a:blip>
          <a:stretch>
            <a:fillRect/>
          </a:stretch>
        </p:blipFill>
        <p:spPr>
          <a:xfrm>
            <a:off x="838200" y="1303525"/>
            <a:ext cx="10515600" cy="4862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4" name="Google Shape;204;p25"/>
          <p:cNvSpPr/>
          <p:nvPr/>
        </p:nvSpPr>
        <p:spPr>
          <a:xfrm>
            <a:off x="3105509" y="508360"/>
            <a:ext cx="5572665" cy="622299"/>
          </a:xfrm>
          <a:prstGeom prst="snip2DiagRect">
            <a:avLst>
              <a:gd fmla="val 0" name="adj1"/>
              <a:gd fmla="val 43005"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lang="en-US" sz="2400">
                <a:solidFill>
                  <a:srgbClr val="D7AC54"/>
                </a:solidFill>
                <a:latin typeface="Cantarell"/>
                <a:ea typeface="Cantarell"/>
                <a:cs typeface="Cantarell"/>
                <a:sym typeface="Cantarell"/>
              </a:rPr>
              <a:t>Future Enhancements</a:t>
            </a:r>
            <a:endParaRPr/>
          </a:p>
        </p:txBody>
      </p:sp>
      <p:sp>
        <p:nvSpPr>
          <p:cNvPr id="205" name="Google Shape;205;p25"/>
          <p:cNvSpPr txBox="1"/>
          <p:nvPr/>
        </p:nvSpPr>
        <p:spPr>
          <a:xfrm>
            <a:off x="311700" y="1152475"/>
            <a:ext cx="11042100" cy="478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lt1"/>
              </a:buClr>
              <a:buSzPts val="1400"/>
              <a:buChar char="●"/>
            </a:pPr>
            <a:r>
              <a:rPr b="1" lang="en-US">
                <a:solidFill>
                  <a:schemeClr val="lt1"/>
                </a:solidFill>
                <a:latin typeface="Cantarell"/>
                <a:ea typeface="Cantarell"/>
                <a:cs typeface="Cantarell"/>
                <a:sym typeface="Cantarell"/>
              </a:rPr>
              <a:t>Adopt Delta Lake:</a:t>
            </a:r>
            <a:br>
              <a:rPr lang="en-US">
                <a:solidFill>
                  <a:schemeClr val="dk1"/>
                </a:solidFill>
                <a:latin typeface="Cantarell"/>
                <a:ea typeface="Cantarell"/>
                <a:cs typeface="Cantarell"/>
                <a:sym typeface="Cantarell"/>
              </a:rPr>
            </a:br>
            <a:r>
              <a:rPr lang="en-US">
                <a:solidFill>
                  <a:srgbClr val="D0A863"/>
                </a:solidFill>
                <a:latin typeface="Cantarell"/>
                <a:ea typeface="Cantarell"/>
                <a:cs typeface="Cantarell"/>
                <a:sym typeface="Cantarell"/>
              </a:rPr>
              <a:t> Enable ACID transactions, time travel, and efficient incremental data updates for greater reliability in the Silver and Gold layers.</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317500" lvl="0" marL="457200" rtl="0" algn="l">
              <a:lnSpc>
                <a:spcPct val="115000"/>
              </a:lnSpc>
              <a:spcBef>
                <a:spcPts val="0"/>
              </a:spcBef>
              <a:spcAft>
                <a:spcPts val="0"/>
              </a:spcAft>
              <a:buClr>
                <a:schemeClr val="lt1"/>
              </a:buClr>
              <a:buSzPts val="1400"/>
              <a:buChar char="●"/>
            </a:pPr>
            <a:r>
              <a:rPr b="1" lang="en-US">
                <a:solidFill>
                  <a:schemeClr val="lt1"/>
                </a:solidFill>
                <a:latin typeface="Cantarell"/>
                <a:ea typeface="Cantarell"/>
                <a:cs typeface="Cantarell"/>
                <a:sym typeface="Cantarell"/>
              </a:rPr>
              <a:t>Event-Driven Pipelines:</a:t>
            </a:r>
            <a:br>
              <a:rPr b="1" lang="en-US">
                <a:solidFill>
                  <a:schemeClr val="lt1"/>
                </a:solidFill>
                <a:latin typeface="Cantarell"/>
                <a:ea typeface="Cantarell"/>
                <a:cs typeface="Cantarell"/>
                <a:sym typeface="Cantarell"/>
              </a:rPr>
            </a:br>
            <a:r>
              <a:rPr lang="en-US">
                <a:solidFill>
                  <a:srgbClr val="D0A863"/>
                </a:solidFill>
                <a:latin typeface="Cantarell"/>
                <a:ea typeface="Cantarell"/>
                <a:cs typeface="Cantarell"/>
                <a:sym typeface="Cantarell"/>
              </a:rPr>
              <a:t> Integrate Azure Data Factory triggers or Logic Apps to automate pipeline runs based on new data arrivals or API events.</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317500" lvl="0" marL="457200" rtl="0" algn="l">
              <a:lnSpc>
                <a:spcPct val="115000"/>
              </a:lnSpc>
              <a:spcBef>
                <a:spcPts val="0"/>
              </a:spcBef>
              <a:spcAft>
                <a:spcPts val="0"/>
              </a:spcAft>
              <a:buClr>
                <a:schemeClr val="lt1"/>
              </a:buClr>
              <a:buSzPts val="1400"/>
              <a:buChar char="●"/>
            </a:pPr>
            <a:r>
              <a:rPr b="1" lang="en-US">
                <a:solidFill>
                  <a:schemeClr val="lt1"/>
                </a:solidFill>
                <a:latin typeface="Cantarell"/>
                <a:ea typeface="Cantarell"/>
                <a:cs typeface="Cantarell"/>
                <a:sym typeface="Cantarell"/>
              </a:rPr>
              <a:t>Metadata-Driven Automation:</a:t>
            </a:r>
            <a:br>
              <a:rPr b="1" lang="en-US">
                <a:solidFill>
                  <a:schemeClr val="lt1"/>
                </a:solidFill>
                <a:latin typeface="Cantarell"/>
                <a:ea typeface="Cantarell"/>
                <a:cs typeface="Cantarell"/>
                <a:sym typeface="Cantarell"/>
              </a:rPr>
            </a:br>
            <a:r>
              <a:rPr lang="en-US">
                <a:solidFill>
                  <a:srgbClr val="D0A863"/>
                </a:solidFill>
                <a:latin typeface="Cantarell"/>
                <a:ea typeface="Cantarell"/>
                <a:cs typeface="Cantarell"/>
                <a:sym typeface="Cantarell"/>
              </a:rPr>
              <a:t> Automate view and table creation in Synapse using metadata-driven SQL scripts to eliminate manual configuration.</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317500" lvl="0" marL="457200" rtl="0" algn="l">
              <a:lnSpc>
                <a:spcPct val="115000"/>
              </a:lnSpc>
              <a:spcBef>
                <a:spcPts val="0"/>
              </a:spcBef>
              <a:spcAft>
                <a:spcPts val="0"/>
              </a:spcAft>
              <a:buClr>
                <a:schemeClr val="lt1"/>
              </a:buClr>
              <a:buSzPts val="1400"/>
              <a:buChar char="●"/>
            </a:pPr>
            <a:r>
              <a:rPr b="1" lang="en-US">
                <a:solidFill>
                  <a:schemeClr val="lt1"/>
                </a:solidFill>
                <a:latin typeface="Cantarell"/>
                <a:ea typeface="Cantarell"/>
                <a:cs typeface="Cantarell"/>
                <a:sym typeface="Cantarell"/>
              </a:rPr>
              <a:t>CI/CD Integration:</a:t>
            </a:r>
            <a:br>
              <a:rPr b="1" lang="en-US">
                <a:solidFill>
                  <a:schemeClr val="lt1"/>
                </a:solidFill>
                <a:latin typeface="Cantarell"/>
                <a:ea typeface="Cantarell"/>
                <a:cs typeface="Cantarell"/>
                <a:sym typeface="Cantarell"/>
              </a:rPr>
            </a:br>
            <a:r>
              <a:rPr lang="en-US">
                <a:solidFill>
                  <a:srgbClr val="D0A863"/>
                </a:solidFill>
                <a:latin typeface="Cantarell"/>
                <a:ea typeface="Cantarell"/>
                <a:cs typeface="Cantarell"/>
                <a:sym typeface="Cantarell"/>
              </a:rPr>
              <a:t> Implement Azure DevOps or GitHub Actions for version-controlled, automated deployment of ADF pipelines and Databricks notebooks.</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317500" lvl="0" marL="457200" rtl="0" algn="l">
              <a:lnSpc>
                <a:spcPct val="115000"/>
              </a:lnSpc>
              <a:spcBef>
                <a:spcPts val="0"/>
              </a:spcBef>
              <a:spcAft>
                <a:spcPts val="0"/>
              </a:spcAft>
              <a:buClr>
                <a:schemeClr val="lt1"/>
              </a:buClr>
              <a:buSzPts val="1400"/>
              <a:buChar char="●"/>
            </a:pPr>
            <a:r>
              <a:rPr b="1" lang="en-US">
                <a:solidFill>
                  <a:schemeClr val="lt1"/>
                </a:solidFill>
                <a:latin typeface="Cantarell"/>
                <a:ea typeface="Cantarell"/>
                <a:cs typeface="Cantarell"/>
                <a:sym typeface="Cantarell"/>
              </a:rPr>
              <a:t>Advanced Analytics:</a:t>
            </a:r>
            <a:br>
              <a:rPr b="1" lang="en-US">
                <a:solidFill>
                  <a:schemeClr val="lt1"/>
                </a:solidFill>
                <a:latin typeface="Cantarell"/>
                <a:ea typeface="Cantarell"/>
                <a:cs typeface="Cantarell"/>
                <a:sym typeface="Cantarell"/>
              </a:rPr>
            </a:br>
            <a:r>
              <a:rPr lang="en-US">
                <a:solidFill>
                  <a:srgbClr val="D0A863"/>
                </a:solidFill>
                <a:latin typeface="Cantarell"/>
                <a:ea typeface="Cantarell"/>
                <a:cs typeface="Cantarell"/>
                <a:sym typeface="Cantarell"/>
              </a:rPr>
              <a:t> Extend Power BI dashboards with predictive insights using Synapse Machine Learning or Azure ML integration.</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317500" lvl="0" marL="457200" rtl="0" algn="l">
              <a:lnSpc>
                <a:spcPct val="115000"/>
              </a:lnSpc>
              <a:spcBef>
                <a:spcPts val="0"/>
              </a:spcBef>
              <a:spcAft>
                <a:spcPts val="0"/>
              </a:spcAft>
              <a:buClr>
                <a:schemeClr val="lt1"/>
              </a:buClr>
              <a:buSzPts val="1400"/>
              <a:buChar char="●"/>
            </a:pPr>
            <a:r>
              <a:rPr b="1" lang="en-US">
                <a:solidFill>
                  <a:schemeClr val="lt1"/>
                </a:solidFill>
                <a:latin typeface="Cantarell"/>
                <a:ea typeface="Cantarell"/>
                <a:cs typeface="Cantarell"/>
                <a:sym typeface="Cantarell"/>
              </a:rPr>
              <a:t>Cost Optimization:</a:t>
            </a:r>
            <a:br>
              <a:rPr lang="en-US">
                <a:solidFill>
                  <a:srgbClr val="D0A863"/>
                </a:solidFill>
                <a:latin typeface="Cantarell"/>
                <a:ea typeface="Cantarell"/>
                <a:cs typeface="Cantarell"/>
                <a:sym typeface="Cantarell"/>
              </a:rPr>
            </a:br>
            <a:r>
              <a:rPr lang="en-US">
                <a:solidFill>
                  <a:srgbClr val="D0A863"/>
                </a:solidFill>
                <a:latin typeface="Cantarell"/>
                <a:ea typeface="Cantarell"/>
                <a:cs typeface="Cantarell"/>
                <a:sym typeface="Cantarell"/>
              </a:rPr>
              <a:t> Incorporate auto-scaling clusters in Databricks and usage monitoring for dynamic cost control.</a:t>
            </a:r>
            <a:br>
              <a:rPr lang="en-US">
                <a:solidFill>
                  <a:srgbClr val="D0A863"/>
                </a:solidFill>
                <a:latin typeface="Cantarell"/>
                <a:ea typeface="Cantarell"/>
                <a:cs typeface="Cantarell"/>
                <a:sym typeface="Cantarell"/>
              </a:rPr>
            </a:br>
            <a:endParaRPr>
              <a:solidFill>
                <a:srgbClr val="D0A863"/>
              </a:solidFill>
              <a:latin typeface="Cantarell"/>
              <a:ea typeface="Cantarell"/>
              <a:cs typeface="Cantarell"/>
              <a:sym typeface="Cantarell"/>
            </a:endParaRPr>
          </a:p>
          <a:p>
            <a:pPr indent="0" lvl="0" marL="114300" marR="0" rtl="0" algn="l">
              <a:lnSpc>
                <a:spcPct val="100000"/>
              </a:lnSpc>
              <a:spcBef>
                <a:spcPts val="1200"/>
              </a:spcBef>
              <a:spcAft>
                <a:spcPts val="0"/>
              </a:spcAft>
              <a:buNone/>
            </a:pPr>
            <a:r>
              <a:t/>
            </a:r>
            <a:endParaRPr sz="2300">
              <a:solidFill>
                <a:srgbClr val="D7AC54"/>
              </a:solidFill>
              <a:latin typeface="Cantarell"/>
              <a:ea typeface="Cantarell"/>
              <a:cs typeface="Cantarell"/>
              <a:sym typeface="Cantare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idx="12" type="sldNum"/>
          </p:nvPr>
        </p:nvSpPr>
        <p:spPr>
          <a:xfrm>
            <a:off x="8610600" y="6471138"/>
            <a:ext cx="2743200" cy="2503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1" name="Google Shape;211;p26"/>
          <p:cNvSpPr txBox="1"/>
          <p:nvPr/>
        </p:nvSpPr>
        <p:spPr>
          <a:xfrm>
            <a:off x="4178808" y="2459736"/>
            <a:ext cx="3610284" cy="830997"/>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None/>
            </a:pPr>
            <a:r>
              <a:rPr b="1" i="0" lang="en-US" sz="4800" u="none" cap="none" strike="noStrike">
                <a:solidFill>
                  <a:srgbClr val="D7AC54"/>
                </a:solidFill>
                <a:latin typeface="Cantarell"/>
                <a:ea typeface="Cantarell"/>
                <a:cs typeface="Cantarell"/>
                <a:sym typeface="Cantarel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